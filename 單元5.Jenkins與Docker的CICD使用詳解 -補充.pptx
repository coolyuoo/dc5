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90" r:id="rId30"/>
    <p:sldId id="289" r:id="rId31"/>
    <p:sldId id="285" r:id="rId32"/>
    <p:sldId id="286" r:id="rId33"/>
    <p:sldId id="287" r:id="rId34"/>
    <p:sldId id="288" r:id="rId35"/>
    <p:sldId id="292" r:id="rId36"/>
    <p:sldId id="291" r:id="rId37"/>
    <p:sldId id="293" r:id="rId38"/>
    <p:sldId id="294" r:id="rId39"/>
    <p:sldId id="295" r:id="rId40"/>
    <p:sldId id="296" r:id="rId41"/>
    <p:sldId id="297" r:id="rId42"/>
    <p:sldId id="298" r:id="rId4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Play" panose="02020500000000000000" charset="0"/>
      <p:regular r:id="rId49"/>
      <p:bold r:id="rId50"/>
    </p:embeddedFont>
    <p:embeddedFont>
      <p:font typeface="Arial Rounded MT Bold" panose="020F0704030504030204" pitchFamily="34" charset="0"/>
      <p:regular r:id="rId51"/>
    </p:embeddedFont>
    <p:embeddedFont>
      <p:font typeface="Trebuchet MS" panose="020B060302020202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3" d="100"/>
          <a:sy n="143" d="100"/>
        </p:scale>
        <p:origin x="684" y="-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0ca8545bc_2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a0ca8545bc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0ca8545bc_2_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a0ca8545bc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0ca8545bc_2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a0ca8545bc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0ca8545bc_2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a0ca8545b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0ca8545bc_2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a0ca8545bc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0ca8545bc_2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a0ca8545bc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0ca8545b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a0ca8545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0ca8545bc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a0ca8545b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0ca8545bc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a0ca8545b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0ca8545bc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a0ca8545b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0ca8545bc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a0ca8545b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0ca8545bc_2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a0ca8545b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0ca8545bc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3a0ca8545b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0ca8545bc_2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a0ca8545bc_2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0ca8545bc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a0ca8545b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0ca8545bc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a0ca8545b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0ca8545b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a0ca8545b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0ca8545b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0ca8545b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0ca8545b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0ca8545b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0ca8545bc_2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a0ca8545bc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0ca8545bc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a0ca8545b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0ca8545bc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a0ca8545bc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0ca8545bc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a0ca8545b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0ca8545bc_0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a0ca8545b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a0ca8545bc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a0ca8545bc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0ca8545bc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a0ca8545b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0ca8545bc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3a0ca8545bc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0ca8545bc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a0ca8545b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0ca8545bc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3a0ca8545b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0ca8545bc_2_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a0ca8545bc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0ca8545bc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a0ca8545b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0ca8545bc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a0ca8545b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34281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ca8545bc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g3a0ca8545bc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355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>
  <p:cSld name="TIT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" name="Google Shape;71;p1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72" name="Google Shape;72;p1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3" name="Google Shape;73;p1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75" name="Google Shape;75;p1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76" name="Google Shape;76;p1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77" name="Google Shape;77;p1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4"/>
          <p:cNvSpPr txBox="1"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 panose="020B0603020202020204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  <a:defRPr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508001" y="2025650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 panose="020B0603020202020204"/>
              <a:buNone/>
              <a:defRPr sz="3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2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2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3"/>
          </p:nvPr>
        </p:nvSpPr>
        <p:spPr>
          <a:xfrm>
            <a:off x="3816287" y="1620737"/>
            <a:ext cx="3139213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4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 panose="020B0603020202020204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2"/>
          </p:nvPr>
        </p:nvSpPr>
        <p:spPr>
          <a:xfrm>
            <a:off x="508001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508000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 panose="020B0603020202020204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>
            <a:spLocks noGrp="1"/>
          </p:cNvSpPr>
          <p:nvPr>
            <p:ph type="pic" idx="2"/>
          </p:nvPr>
        </p:nvSpPr>
        <p:spPr>
          <a:xfrm>
            <a:off x="508000" y="457200"/>
            <a:ext cx="6447501" cy="2884288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508000" y="4025503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輔助字幕">
  <p:cSld name="標題與輔助字幕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述 (含輔助字幕)">
  <p:cSld name="引述 (含輔助字幕)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2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  <p:sp>
        <p:nvSpPr>
          <p:cNvPr id="148" name="Google Shape;148;p24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60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14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名片">
  <p:cSld name="名片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述名片">
  <p:cSld name="引述名片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 panose="020B0603020202020204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  <p:sp>
        <p:nvSpPr>
          <p:cNvPr id="163" name="Google Shape;163;p26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60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0" i="0" u="none" strike="noStrike" cap="none">
                <a:solidFill>
                  <a:srgbClr val="BFE4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6000" b="0" i="0" u="none" strike="noStrike" cap="none">
              <a:solidFill>
                <a:srgbClr val="BFE4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是非題">
  <p:cSld name="是非題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514349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 panose="020B0603020202020204"/>
              <a:buNone/>
              <a:defRPr sz="3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 panose="020B0603020202020204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 panose="020B0603020202020204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 panose="020B0603020202020204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 panose="020B0603020202020204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body" idx="1"/>
          </p:nvPr>
        </p:nvSpPr>
        <p:spPr>
          <a:xfrm rot="5400000">
            <a:off x="2276461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 rot="5400000">
            <a:off x="4495739" y="1937215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" name="Google Shape;54;p1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55" name="Google Shape;55;p1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56" name="Google Shape;56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59" name="Google Shape;59;p1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60" name="Google Shape;60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  <a:defRPr sz="2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914400" marR="0" lvl="1" indent="-2921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1371600" marR="0" lvl="2" indent="-2794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1828800" marR="0" lvl="3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2286000" marR="0" lvl="4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2743200" marR="0" lvl="5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3200400" marR="0" lvl="6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3657600" marR="0" lvl="7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4114800" marR="0" lvl="8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ftr" idx="11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‹#›</a:t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javase/jdk21-archive-download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nkins.io/download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>
            <a:spLocks noGrp="1"/>
          </p:cNvSpPr>
          <p:nvPr>
            <p:ph type="ctrTitle"/>
          </p:nvPr>
        </p:nvSpPr>
        <p:spPr>
          <a:xfrm>
            <a:off x="408146" y="1071086"/>
            <a:ext cx="6689408" cy="151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 panose="020B0603020202020204"/>
              <a:buNone/>
            </a:pPr>
            <a:r>
              <a:rPr lang="zh-TW"/>
              <a:t>單元5.jenkins與docker的cicd使用</a:t>
            </a:r>
          </a:p>
        </p:txBody>
      </p:sp>
      <p:sp>
        <p:nvSpPr>
          <p:cNvPr id="195" name="Google Shape;195;p31"/>
          <p:cNvSpPr txBox="1"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>
                <a:solidFill>
                  <a:schemeClr val="accent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授課講師:Kevin</a:t>
            </a:r>
            <a:endParaRPr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>
            <a:spLocks noGrp="1"/>
          </p:cNvSpPr>
          <p:nvPr>
            <p:ph type="ctrTitle"/>
          </p:nvPr>
        </p:nvSpPr>
        <p:spPr>
          <a:xfrm>
            <a:off x="1003853" y="208722"/>
            <a:ext cx="1439285" cy="83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Trebuchet MS" panose="020B0603020202020204"/>
              <a:buNone/>
            </a:pPr>
            <a:r>
              <a:rPr lang="zh-TW"/>
              <a:t>目錄:</a:t>
            </a:r>
          </a:p>
        </p:txBody>
      </p:sp>
      <p:sp>
        <p:nvSpPr>
          <p:cNvPr id="201" name="Google Shape;201;p32"/>
          <p:cNvSpPr txBox="1">
            <a:spLocks noGrp="1"/>
          </p:cNvSpPr>
          <p:nvPr>
            <p:ph type="subTitle" idx="1"/>
          </p:nvPr>
        </p:nvSpPr>
        <p:spPr>
          <a:xfrm>
            <a:off x="473869" y="1091565"/>
            <a:ext cx="5431155" cy="368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37500" lnSpcReduction="20000"/>
          </a:bodyPr>
          <a:lstStyle/>
          <a:p>
            <a:pPr marL="215900" lvl="0" indent="-246380" algn="l" rtl="0"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CICD 是什麼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是什麼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安裝步驟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登入步驟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Jenkins 介面介紹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建立 Pipeline 流水線與腳本建置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Groovy 語法簡介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執行 CICD 流程：傳統部屬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執行 CICD 流程：容器化部屬</a:t>
            </a: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 rtl="0">
              <a:spcBef>
                <a:spcPts val="800"/>
              </a:spcBef>
              <a:spcAft>
                <a:spcPts val="0"/>
              </a:spcAft>
              <a:buSzPct val="90000"/>
              <a:buFont typeface="Arial" panose="020B0604020202020204"/>
              <a:buChar char="•"/>
            </a:pPr>
            <a:r>
              <a:rPr lang="zh-TW" sz="3930" dirty="0">
                <a:solidFill>
                  <a:schemeClr val="tx1"/>
                </a:solidFill>
                <a:uFillTx/>
                <a:latin typeface="Trebuchet MS" panose="020B0603020202020204" charset="0"/>
              </a:rPr>
              <a:t>實務</a:t>
            </a:r>
            <a:r>
              <a:rPr lang="zh-TW" sz="3930" dirty="0" smtClean="0">
                <a:solidFill>
                  <a:schemeClr val="tx1"/>
                </a:solidFill>
                <a:uFillTx/>
                <a:latin typeface="Trebuchet MS" panose="020B0603020202020204" charset="0"/>
              </a:rPr>
              <a:t>練習</a:t>
            </a:r>
            <a:endParaRPr lang="en-US" altLang="zh-TW" sz="3930" dirty="0" smtClean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246380" algn="l">
              <a:buSzPct val="90000"/>
              <a:buFont typeface="Arial" panose="020B0604020202020204"/>
              <a:buChar char="•"/>
            </a:pPr>
            <a:r>
              <a:rPr lang="zh-TW" altLang="zh-TW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</a:t>
            </a:r>
            <a:r>
              <a:rPr lang="zh-TW" altLang="en-US" sz="4000" dirty="0" smtClean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版</a:t>
            </a:r>
            <a:endParaRPr lang="en-US" altLang="zh-TW" sz="4000" dirty="0" smtClean="0">
              <a:solidFill>
                <a:schemeClr val="tx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215900" indent="-246380" algn="l">
              <a:buSzPct val="90000"/>
              <a:buFont typeface="Arial" panose="020B0604020202020204"/>
              <a:buChar char="•"/>
            </a:pPr>
            <a:r>
              <a:rPr lang="zh-TW" altLang="en-US" sz="4000" dirty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4000" dirty="0" smtClean="0">
                <a:solidFill>
                  <a:schemeClr val="tx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en-US" altLang="zh-TW" sz="4000" dirty="0" err="1" smtClean="0">
                <a:solidFill>
                  <a:schemeClr val="tx1"/>
                </a:solidFill>
                <a:latin typeface="Arial Rounded MT Bold" panose="020F0704030504030204" pitchFamily="34" charset="0"/>
                <a:ea typeface="Play" panose="00000500000000000000"/>
                <a:cs typeface="Play" panose="00000500000000000000"/>
                <a:sym typeface="Play" panose="00000500000000000000"/>
              </a:rPr>
              <a:t>pollSCM</a:t>
            </a:r>
            <a:r>
              <a:rPr lang="zh-TW" altLang="zh-TW" sz="4000" dirty="0"/>
              <a:t/>
            </a:r>
            <a:br>
              <a:rPr lang="zh-TW" altLang="zh-TW" sz="4000" dirty="0"/>
            </a:br>
            <a:endParaRPr sz="3930" dirty="0">
              <a:solidFill>
                <a:schemeClr val="tx1"/>
              </a:solidFill>
              <a:uFillTx/>
              <a:latin typeface="Trebuchet MS" panose="020B0603020202020204" charset="0"/>
            </a:endParaRPr>
          </a:p>
          <a:p>
            <a:pPr marL="215900" lvl="0" indent="-139700" algn="l" rtl="0">
              <a:spcBef>
                <a:spcPts val="800"/>
              </a:spcBef>
              <a:spcAft>
                <a:spcPts val="0"/>
              </a:spcAft>
              <a:buSzPct val="81000"/>
              <a:buFont typeface="Arial" panose="020B0604020202020204"/>
              <a:buNone/>
            </a:pPr>
            <a:endParaRPr sz="2100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ct val="79000"/>
              <a:buNone/>
            </a:pPr>
            <a:endParaRPr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課程導入</a:t>
            </a:r>
          </a:p>
        </p:txBody>
      </p:sp>
      <p:sp>
        <p:nvSpPr>
          <p:cNvPr id="207" name="Google Shape;207;p33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60350" algn="l" rtl="0">
              <a:spcBef>
                <a:spcPts val="0"/>
              </a:spcBef>
              <a:spcAft>
                <a:spcPts val="0"/>
              </a:spcAft>
              <a:buSzPts val="1100"/>
              <a:buChar char="►"/>
            </a:pPr>
            <a:r>
              <a:rPr lang="zh-TW"/>
              <a:t>學習JENKINS 基本操作</a:t>
            </a:r>
          </a:p>
          <a:p>
            <a:pPr marL="254000" lvl="0" indent="-260350" algn="l" rtl="0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zh-TW"/>
              <a:t>學會PIPELINE流水線腳本</a:t>
            </a:r>
          </a:p>
          <a:p>
            <a:pPr marL="254000" lvl="0" indent="-260350" algn="l" rtl="0">
              <a:spcBef>
                <a:spcPts val="800"/>
              </a:spcBef>
              <a:spcAft>
                <a:spcPts val="0"/>
              </a:spcAft>
              <a:buSzPts val="1100"/>
              <a:buChar char="►"/>
            </a:pPr>
            <a:r>
              <a:rPr lang="zh-TW"/>
              <a:t>PIPELINE的傳統部屬與容器化部屬方式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700"/>
              <a:t> </a:t>
            </a:r>
            <a:r>
              <a:rPr lang="zh-TW"/>
              <a:t>CICD是什麼</a:t>
            </a:r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508159" y="1188720"/>
            <a:ext cx="6447473" cy="349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CI（Continuous Integration）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：持續整合 — 電腦幫你自動化整合、測試專案。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CD（Continuous Deployment）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：持續部署 — 自動化部署程式到伺服器。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🔍 沒有 CICD 的情境：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在本機開發並測試網站。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手動上傳專案到公司測試主機（使用 FTP、複製、壓縮等方式）。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測試完成後再通知客戶測試。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⚙️ 有 CICD 的情境：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開發者將程式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push 到 GitLab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偵測到新的 Commit，自動抓取程式。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自動進行單元測試與整合。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將專案部署至測試伺服器。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自動通知團隊「部署完成」。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簡單來說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：CICD 就是「讓電腦自動幫你完成整個上線流程」。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0350" algn="l" rtl="0">
              <a:spcBef>
                <a:spcPts val="900"/>
              </a:spcBef>
              <a:spcAft>
                <a:spcPts val="0"/>
              </a:spcAft>
              <a:buSzPts val="1100"/>
              <a:buChar char="►"/>
            </a:pPr>
            <a:endParaRPr b="1"/>
          </a:p>
          <a:p>
            <a:pPr marL="558800" lvl="1" indent="-152400" algn="l" rtl="0">
              <a:spcBef>
                <a:spcPts val="800"/>
              </a:spcBef>
              <a:spcAft>
                <a:spcPts val="0"/>
              </a:spcAft>
              <a:buSzPts val="1000"/>
              <a:buNone/>
            </a:pP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Jenkins是什麼</a:t>
            </a:r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1"/>
          </p:nvPr>
        </p:nvSpPr>
        <p:spPr>
          <a:xfrm>
            <a:off x="508159" y="1389221"/>
            <a:ext cx="6889433" cy="335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是一個開源的自動化 CI/CD 工具，能幫助團隊自動完成： &gt; 編譯 → 測試 → 打包 → 部署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🔧 Jenkins 的運作方式：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監聽程式碼版本庫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（例如 GitLab / GitHub）。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偵測到新程式碼後，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自動觸發 Pipeline 流程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執行腳本（Jenkinsfile）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，自動建置與部署。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回報狀態與通知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：成功、失敗、Log、Email、Slack 通知等。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比喻：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Jenkins 就像是一位「自動化助理工程師」，不會偷懶、不會忘記，也不會出錯。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400"/>
          </a:p>
          <a:p>
            <a:pPr marL="558800" lvl="1" indent="-165100" algn="l" rtl="0">
              <a:spcBef>
                <a:spcPts val="800"/>
              </a:spcBef>
              <a:spcAft>
                <a:spcPts val="0"/>
              </a:spcAft>
              <a:buSzPts val="1000"/>
              <a:buNone/>
            </a:pPr>
            <a:endParaRPr sz="1200"/>
          </a:p>
          <a:p>
            <a:pPr marL="558800" lvl="1" indent="-165100" algn="l" rtl="0">
              <a:spcBef>
                <a:spcPts val="800"/>
              </a:spcBef>
              <a:spcAft>
                <a:spcPts val="0"/>
              </a:spcAft>
              <a:buSzPts val="1000"/>
              <a:buNone/>
            </a:pP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</a:p>
        </p:txBody>
      </p:sp>
      <p:sp>
        <p:nvSpPr>
          <p:cNvPr id="225" name="Google Shape;225;p36"/>
          <p:cNvSpPr/>
          <p:nvPr/>
        </p:nvSpPr>
        <p:spPr>
          <a:xfrm>
            <a:off x="326750" y="1077700"/>
            <a:ext cx="8193900" cy="3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1：安裝 Java 17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前往下載：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👉 </a:t>
            </a:r>
            <a:r>
              <a:rPr lang="zh-TW" sz="1200">
                <a:solidFill>
                  <a:srgbClr val="156082"/>
                </a:solidFill>
                <a:uFill>
                  <a:noFill/>
                </a:uFill>
                <a:latin typeface="Aptos"/>
                <a:ea typeface="Aptos"/>
                <a:cs typeface="Aptos"/>
                <a:sym typeface="Aptos"/>
                <a:hlinkClick r:id="rId3"/>
              </a:rPr>
              <a:t>Oracle JDK 21 下載頁面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安裝完成後，確認路徑：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C:\Program Files\Java\jdk-21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26" name="Google Shape;226;p36" title="Snipaste_2025-11-06_10-20-28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800950" y="1630950"/>
            <a:ext cx="5956202" cy="26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</a:p>
        </p:txBody>
      </p:sp>
      <p:sp>
        <p:nvSpPr>
          <p:cNvPr id="232" name="Google Shape;232;p37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前往官網下載：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👉 </a:t>
            </a:r>
            <a:r>
              <a:rPr lang="zh-TW" sz="1200">
                <a:solidFill>
                  <a:srgbClr val="156082"/>
                </a:solidFill>
                <a:uFill>
                  <a:noFill/>
                </a:uFill>
                <a:latin typeface="Aptos"/>
                <a:ea typeface="Aptos"/>
                <a:cs typeface="Aptos"/>
                <a:sym typeface="Aptos"/>
                <a:hlinkClick r:id="rId3"/>
              </a:rPr>
              <a:t>https://www.jenkins.io/download/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33" name="Google Shape;233;p37" title="Snipaste_2025-11-05_10-07-06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406625" y="152675"/>
            <a:ext cx="3147876" cy="2853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7" title="Snipaste_2025-11-05_10-10-27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415800" y="3329725"/>
            <a:ext cx="3359027" cy="159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</a:p>
        </p:txBody>
      </p:sp>
      <p:sp>
        <p:nvSpPr>
          <p:cNvPr id="240" name="Google Shape;240;p38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安裝下一步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41" name="Google Shape;241;p38" title="Snipaste_2025-11-05_13-50-46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84050" y="1076650"/>
            <a:ext cx="4626224" cy="35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</a:p>
        </p:txBody>
      </p:sp>
      <p:sp>
        <p:nvSpPr>
          <p:cNvPr id="247" name="Google Shape;247;p39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安裝下一步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選第一個 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48" name="Google Shape;248;p39" title="Snipaste_2025-11-05_13-53-04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689248" y="605250"/>
            <a:ext cx="5167901" cy="40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</a:p>
        </p:txBody>
      </p:sp>
      <p:sp>
        <p:nvSpPr>
          <p:cNvPr id="254" name="Google Shape;254;p40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安裝下一步</a:t>
            </a: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這邊要選擇Jave21安裝的路徑</a:t>
            </a: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</a:b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55" name="Google Shape;255;p40" title="Snipaste_2025-11-05_17-36-57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87350" y="1034825"/>
            <a:ext cx="4918574" cy="38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Jenkins安裝步驟</a:t>
            </a:r>
          </a:p>
        </p:txBody>
      </p:sp>
      <p:sp>
        <p:nvSpPr>
          <p:cNvPr id="261" name="Google Shape;261;p41"/>
          <p:cNvSpPr/>
          <p:nvPr/>
        </p:nvSpPr>
        <p:spPr>
          <a:xfrm>
            <a:off x="390084" y="1116984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🔹 步驟 2：下載 Jenkins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安裝完成後，開啟瀏覽器：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http://localhost:8080/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若看到jenkins畫面，代表安裝成功。</a:t>
            </a: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254000" marR="0" lvl="0" indent="-165100" algn="l" rtl="0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marL="558800" marR="0" lvl="1" indent="-1270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 b="0" i="0" u="none" strike="noStrike" cap="none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Jenkins登入步驟</a:t>
            </a:r>
          </a:p>
        </p:txBody>
      </p:sp>
      <p:sp>
        <p:nvSpPr>
          <p:cNvPr id="267" name="Google Shape;267;p42"/>
          <p:cNvSpPr/>
          <p:nvPr/>
        </p:nvSpPr>
        <p:spPr>
          <a:xfrm>
            <a:off x="333325" y="992400"/>
            <a:ext cx="8187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開啟路徑：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C:\ProgramData\Jenkins\.jenkins\secrets\initialAdminPassword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複製密鑰貼入登入頁面。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選擇「預設安裝」。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建立帳號（建議帳密都先設為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admin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 startAt="2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成功登入後，看到 Jenkins 主畫面。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endParaRPr sz="16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68" name="Google Shape;268;p42" title="Snipaste_2025-11-05_18-05-48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33550" y="1952550"/>
            <a:ext cx="2970724" cy="19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Jenkins登入步驟</a:t>
            </a:r>
          </a:p>
        </p:txBody>
      </p:sp>
      <p:sp>
        <p:nvSpPr>
          <p:cNvPr id="274" name="Google Shape;274;p43"/>
          <p:cNvSpPr/>
          <p:nvPr/>
        </p:nvSpPr>
        <p:spPr>
          <a:xfrm>
            <a:off x="333325" y="992400"/>
            <a:ext cx="8187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4.建立帳號（建議帳密都先設為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admin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）。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5.成功登入後，看到 Jenkins 主畫面。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</a:pPr>
            <a:endParaRPr sz="16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75" name="Google Shape;275;p43" title="Snipaste_2025-11-05_18-11-00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86151" y="55750"/>
            <a:ext cx="3850199" cy="25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3" title="Snipaste_2025-11-05_18-13-46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554625" y="2664625"/>
            <a:ext cx="5018052" cy="226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282" name="Google Shape;282;p44"/>
          <p:cNvSpPr/>
          <p:nvPr/>
        </p:nvSpPr>
        <p:spPr>
          <a:xfrm>
            <a:off x="508159" y="1536859"/>
            <a:ext cx="8012430" cy="342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New Item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建立新的自動化流程專案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83" name="Google Shape;283;p4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39475" y="1711324"/>
            <a:ext cx="6009299" cy="30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289" name="Google Shape;289;p45"/>
          <p:cNvSpPr/>
          <p:nvPr/>
        </p:nvSpPr>
        <p:spPr>
          <a:xfrm>
            <a:off x="390059" y="1536859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Build History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查看歷史部屬紀錄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 b="1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90" name="Google Shape;290;p4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82100" y="2059676"/>
            <a:ext cx="9144000" cy="26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296" name="Google Shape;296;p46"/>
          <p:cNvSpPr/>
          <p:nvPr/>
        </p:nvSpPr>
        <p:spPr>
          <a:xfrm>
            <a:off x="508159" y="1536859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Credentials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建立 GitHub 登入憑證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1200" b="1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411125" y="1753447"/>
            <a:ext cx="6517875" cy="28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/>
              <a:t> </a:t>
            </a:r>
            <a:r>
              <a:rPr lang="zh-TW" sz="2930"/>
              <a:t>Jenkins 介面介紹</a:t>
            </a:r>
            <a:endParaRPr sz="293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2930"/>
              <a:t>（僅介紹會用到的功能）</a:t>
            </a:r>
            <a:endParaRPr sz="1700"/>
          </a:p>
        </p:txBody>
      </p:sp>
      <p:sp>
        <p:nvSpPr>
          <p:cNvPr id="303" name="Google Shape;303;p47"/>
          <p:cNvSpPr/>
          <p:nvPr/>
        </p:nvSpPr>
        <p:spPr>
          <a:xfrm>
            <a:off x="508159" y="1536859"/>
            <a:ext cx="8012400" cy="3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 b="1">
                <a:latin typeface="Aptos"/>
                <a:ea typeface="Aptos"/>
                <a:cs typeface="Aptos"/>
                <a:sym typeface="Aptos"/>
              </a:rPr>
              <a:t>Plugins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zh-TW" sz="1200">
                <a:latin typeface="Aptos"/>
                <a:ea typeface="Aptos"/>
                <a:cs typeface="Aptos"/>
                <a:sym typeface="Aptos"/>
              </a:rPr>
              <a:t>管理外掛套件</a:t>
            </a:r>
            <a:endParaRPr sz="1200">
              <a:latin typeface="Aptos"/>
              <a:ea typeface="Aptos"/>
              <a:cs typeface="Aptos"/>
              <a:sym typeface="Aptos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endParaRPr sz="1800">
              <a:solidFill>
                <a:srgbClr val="3F3F3F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304" name="Google Shape;304;p4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025950" y="2223702"/>
            <a:ext cx="6947476" cy="23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latin typeface="Aptos"/>
                <a:ea typeface="Aptos"/>
                <a:cs typeface="Aptos"/>
                <a:sym typeface="Aptos"/>
              </a:rPr>
              <a:t>建立 Pipeline 流水線與腳本建置</a:t>
            </a:r>
            <a:endParaRPr sz="3000"/>
          </a:p>
        </p:txBody>
      </p:sp>
      <p:sp>
        <p:nvSpPr>
          <p:cNvPr id="310" name="Google Shape;310;p48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🧱 Jenkins Pipeline 是什麼？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一條自動執行「建置、測試、部署」的生產線。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🪜 建立步驟：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點擊「New Item」→ 選擇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Pipeline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80"/>
              </a:spcBef>
              <a:spcAft>
                <a:spcPts val="18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11" name="Google Shape;311;p48" title="Snipaste_2025-11-05_22-43-10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29075" y="1402609"/>
            <a:ext cx="4921201" cy="2948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Aptos"/>
                <a:ea typeface="Aptos"/>
                <a:cs typeface="Aptos"/>
                <a:sym typeface="Aptos"/>
              </a:rPr>
              <a:t>建立 Pipeline 流水線與腳本建置</a:t>
            </a:r>
            <a:endParaRPr sz="3000"/>
          </a:p>
        </p:txBody>
      </p:sp>
      <p:sp>
        <p:nvSpPr>
          <p:cNvPr id="317" name="Google Shape;317;p49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🧱 Jenkins Pipeline 是什麼？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🪜 建立步驟：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180"/>
              </a:spcBef>
              <a:spcAft>
                <a:spcPts val="18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2.滾動至底部，開始撰寫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Groovy 語法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</a:p>
        </p:txBody>
      </p:sp>
      <p:pic>
        <p:nvPicPr>
          <p:cNvPr id="318" name="Google Shape;318;p49" title="Snipaste_2025-11-05_23-06-41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462750" y="1620450"/>
            <a:ext cx="5281276" cy="27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Aptos"/>
                <a:ea typeface="Aptos"/>
                <a:cs typeface="Aptos"/>
                <a:sym typeface="Aptos"/>
              </a:rPr>
              <a:t>Groovy 語法簡介</a:t>
            </a:r>
            <a:endParaRPr sz="3000"/>
          </a:p>
        </p:txBody>
      </p:sp>
      <p:sp>
        <p:nvSpPr>
          <p:cNvPr id="324" name="Google Shape;324;p50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 的 Pipeline 底層語法基於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Groovy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語言。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✳️ 常見用途：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加入條件判斷（if/else）與流程控制。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使用 Shared Library 重複利用程式碼。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自動化部屬控制邏輯。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0350" algn="l" rtl="0">
              <a:spcBef>
                <a:spcPts val="180"/>
              </a:spcBef>
              <a:spcAft>
                <a:spcPts val="0"/>
              </a:spcAft>
              <a:buSzPts val="1100"/>
              <a:buChar char="►"/>
            </a:pP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1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30" name="Google Shape;330;p51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44475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Font typeface="Arial" panose="020B0604020202020204"/>
              <a:buChar char="►"/>
            </a:pPr>
            <a:r>
              <a:rPr 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好 前面有說到cicd的步驟</a:t>
            </a:r>
            <a:endParaRPr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Font typeface="Arial" panose="020B0604020202020204"/>
              <a:buChar char="►"/>
            </a:pPr>
            <a:r>
              <a:rPr 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把上傳到git的檔案從gihubt抓下來到電腦</a:t>
            </a:r>
            <a:endParaRPr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Font typeface="Arial" panose="020B0604020202020204"/>
              <a:buChar char="►"/>
            </a:pPr>
            <a:r>
              <a:rPr 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傳到正式站網站的資料夾</a:t>
            </a:r>
            <a:endParaRPr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這邊我們先在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槽建立兩個資料夾</a:t>
            </a: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endParaRPr lang="zh-TW" altLang="en-US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一個叫做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NativeDevelopment</a:t>
            </a:r>
            <a:endParaRPr lang="en-US" altLang="zh-TW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一個叫做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OfficialWebsite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因為通常一班情況 是一台電腦在做開發 一台電腦是正式站部屬的機器</a:t>
            </a: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這邊我們模擬一下 假設兩台電腦都在同一台做操作 好 </a:t>
            </a:r>
          </a:p>
          <a:p>
            <a:pPr marL="254000" lvl="0" indent="-244475" algn="just">
              <a:lnSpc>
                <a:spcPct val="115000"/>
              </a:lnSpc>
              <a:spcBef>
                <a:spcPts val="0"/>
              </a:spcBef>
              <a:buSzPct val="55000"/>
              <a:buFont typeface="Arial" panose="020B0604020202020204"/>
              <a:buChar char="►"/>
            </a:pP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所以我們步驟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就是把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NativeDevelopment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裡面的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PYTHON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檔案 藉由</a:t>
            </a:r>
            <a:r>
              <a:rPr lang="en-US" altLang="zh-TW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JENKINS</a:t>
            </a:r>
            <a:r>
              <a:rPr lang="zh-TW" altLang="en-US" sz="16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傳到</a:t>
            </a:r>
            <a:r>
              <a:rPr lang="en-US" altLang="zh-TW" sz="1600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OfficialWebsite</a:t>
            </a:r>
            <a:endParaRPr lang="en-US" altLang="zh-TW" sz="16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4000" lvl="0" indent="-244475" algn="l" rtl="0"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ct val="79000"/>
              <a:buFont typeface="Arial" panose="020B0604020202020204"/>
              <a:buChar char="►"/>
            </a:pPr>
            <a:endParaRPr sz="1600" dirty="0">
              <a:solidFill>
                <a:srgbClr val="0F476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36" name="Google Shape;336;p52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要到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Credentials 建立github帳戶 方便pipeline使用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點擊圖片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-260350" algn="l" rtl="0">
              <a:spcBef>
                <a:spcPts val="400"/>
              </a:spcBef>
              <a:spcAft>
                <a:spcPts val="0"/>
              </a:spcAft>
              <a:buSzPts val="1100"/>
              <a:buChar char="►"/>
            </a:pPr>
            <a:endParaRPr b="1" dirty="0"/>
          </a:p>
        </p:txBody>
      </p:sp>
      <p:pic>
        <p:nvPicPr>
          <p:cNvPr id="337" name="Google Shape;337;p5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29969" y="2521242"/>
            <a:ext cx="6665376" cy="20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43" name="Google Shape;343;p53"/>
          <p:cNvSpPr txBox="1">
            <a:spLocks noGrp="1"/>
          </p:cNvSpPr>
          <p:nvPr>
            <p:ph type="body" idx="1"/>
          </p:nvPr>
        </p:nvSpPr>
        <p:spPr>
          <a:xfrm>
            <a:off x="508000" y="127450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要到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Credentials 建立github帳戶 方便pipeline使用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下一步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344" name="Google Shape;344;p5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7650" y="2901025"/>
            <a:ext cx="8440699" cy="18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50" name="Google Shape;350;p54"/>
          <p:cNvSpPr txBox="1">
            <a:spLocks noGrp="1"/>
          </p:cNvSpPr>
          <p:nvPr>
            <p:ph type="body" idx="1"/>
          </p:nvPr>
        </p:nvSpPr>
        <p:spPr>
          <a:xfrm>
            <a:off x="508000" y="127450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要到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Credentials 建立github帳戶 方便pipeline使用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下一步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351" name="Google Shape;351;p5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47550" y="3189100"/>
            <a:ext cx="7940575" cy="15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57" name="Google Shape;357;p55"/>
          <p:cNvSpPr txBox="1">
            <a:spLocks noGrp="1"/>
          </p:cNvSpPr>
          <p:nvPr>
            <p:ph type="body" idx="1"/>
          </p:nvPr>
        </p:nvSpPr>
        <p:spPr>
          <a:xfrm>
            <a:off x="508000" y="127450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200"/>
              <a:buChar char="●"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到這邊輸入你的github帳號與密碼，授予pipeline權限使用下載檔案</a:t>
            </a: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b="1" dirty="0"/>
          </a:p>
        </p:txBody>
      </p:sp>
      <p:pic>
        <p:nvPicPr>
          <p:cNvPr id="358" name="Google Shape;358;p5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37726" y="2073386"/>
            <a:ext cx="6547274" cy="298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64" name="Google Shape;364;p56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將任意 Python 檔案放入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NativeDevelopment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資料夾。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點選 Jenkins 的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Build Now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若出現錯誤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Unknown step fileOperations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→ 安裝外掛。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再次執行 Build → 確認綠燈完成。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檢查 </a:t>
            </a: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OfficialWebsite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資料夾中是否出現新檔案。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-2667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Char char="►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修改 Python 檔後再次 Build → 驗證自動更新。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54000" lvl="0" indent="0" algn="l" rtl="0">
              <a:spcBef>
                <a:spcPts val="18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MingLiU" panose="02020500000000000000" charset="-120"/>
              <a:ea typeface="PMingLiU" panose="02020500000000000000" charset="-120"/>
              <a:cs typeface="PMingLiU" panose="02020500000000000000" charset="-120"/>
              <a:sym typeface="PMingLiU" panose="02020500000000000000" charset="-120"/>
            </a:endParaRPr>
          </a:p>
        </p:txBody>
      </p:sp>
      <p:pic>
        <p:nvPicPr>
          <p:cNvPr id="365" name="Google Shape;365;p56" title="Snipaste_2025-11-05_23-39-04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70570" y="2499725"/>
            <a:ext cx="6704701" cy="26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>
            <a:spLocks noGrp="1"/>
          </p:cNvSpPr>
          <p:nvPr>
            <p:ph type="title"/>
          </p:nvPr>
        </p:nvSpPr>
        <p:spPr>
          <a:xfrm>
            <a:off x="508000" y="110128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 dirty="0"/>
          </a:p>
        </p:txBody>
      </p:sp>
      <p:sp>
        <p:nvSpPr>
          <p:cNvPr id="371" name="Google Shape;371;p57"/>
          <p:cNvSpPr txBox="1">
            <a:spLocks noGrp="1"/>
          </p:cNvSpPr>
          <p:nvPr>
            <p:ph type="body" idx="1"/>
          </p:nvPr>
        </p:nvSpPr>
        <p:spPr>
          <a:xfrm>
            <a:off x="507999" y="832359"/>
            <a:ext cx="7634833" cy="4800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實例：基本 </a:t>
            </a:r>
            <a:r>
              <a:rPr lang="en-US" altLang="zh-TW" sz="900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Pipeline </a:t>
            </a:r>
            <a:r>
              <a:rPr lang="zh-TW" altLang="en-US" sz="900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語法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pipeline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agent any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stages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stage('start')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steps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echo "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開始部屬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stage('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抓取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')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steps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branch: 'main',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credentialsId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: '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githubuser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',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url: 'https://github.com/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coolyuoo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/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ClassHello.git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stage('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複製到正式站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')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steps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//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先確保目的地存在（可選）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bat '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mkdir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D:\\site 2&gt;NUL ||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ver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&gt;NUL'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fileOperations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([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folderCopyOperation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(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sourceFolderPath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: '.',          //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以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workspace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為相對路徑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  </a:t>
            </a:r>
            <a:r>
              <a:rPr lang="en-US" altLang="zh-TW" sz="900" dirty="0" err="1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destinationFolderPath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: 'D:/site'// Windows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用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/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最穩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 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)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  ])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post {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success { echo '✅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專案已成功複製到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D:\\site'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  failure { echo '❌ </a:t>
            </a:r>
            <a:r>
              <a:rPr lang="zh-TW" altLang="en-US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發生錯誤，請檢查 </a:t>
            </a: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Jenkins Log'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 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r>
              <a:rPr lang="en-US" altLang="zh-TW" sz="9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}</a:t>
            </a: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63830" lvl="0" indent="0">
              <a:buClr>
                <a:schemeClr val="dk1"/>
              </a:buClr>
              <a:buSzPct val="86000"/>
              <a:buNone/>
            </a:pPr>
            <a:endParaRPr lang="en-US" altLang="zh-TW" sz="900" dirty="0" smtClean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 smtClean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 smtClean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lvl="0" indent="-293370">
              <a:buClr>
                <a:schemeClr val="dk1"/>
              </a:buClr>
              <a:buSzPct val="86000"/>
              <a:buChar char="●"/>
            </a:pPr>
            <a:endParaRPr lang="en-US" altLang="zh-TW" sz="9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77" name="Google Shape;377;p58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實例：基本 Pipeline 語法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zh-TW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指令說明：</a:t>
            </a:r>
            <a:endParaRPr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pipeline {}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：宣告式 Pipeline 主體。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agent any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：可在任意節點執行。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stages {}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：定義整個流程的階段。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stage('名稱') { steps { ... } }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：一個階段與步驟。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bat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：Windows 系統執行命令。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fileOperations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：外掛功能，用於複製或搬移檔案。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注意：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若執行時出現 </a:t>
            </a:r>
            <a:r>
              <a:rPr lang="zh-TW" sz="11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Unknown step fileOperations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，需安裝 </a:t>
            </a:r>
            <a:r>
              <a:rPr lang="zh-TW" sz="1200" b="1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File Operations</a:t>
            </a:r>
            <a:r>
              <a:rPr 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。</a:t>
            </a:r>
            <a:endParaRPr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29845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nsolas" panose="020B0609020204030204"/>
              <a:buChar char="●"/>
            </a:pP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-260350" algn="l" rtl="0">
              <a:spcBef>
                <a:spcPts val="400"/>
              </a:spcBef>
              <a:spcAft>
                <a:spcPts val="0"/>
              </a:spcAft>
              <a:buSzPts val="1100"/>
              <a:buChar char="►"/>
            </a:pPr>
            <a:endParaRPr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流程：傳統部屬</a:t>
            </a:r>
            <a:endParaRPr sz="3000"/>
          </a:p>
        </p:txBody>
      </p:sp>
      <p:sp>
        <p:nvSpPr>
          <p:cNvPr id="377" name="Google Shape;377;p58"/>
          <p:cNvSpPr txBox="1">
            <a:spLocks noGrp="1"/>
          </p:cNvSpPr>
          <p:nvPr>
            <p:ph type="body" idx="1"/>
          </p:nvPr>
        </p:nvSpPr>
        <p:spPr>
          <a:xfrm>
            <a:off x="457975" y="1051450"/>
            <a:ext cx="6777000" cy="4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indent="-304800">
              <a:buClr>
                <a:schemeClr val="dk1"/>
              </a:buClr>
              <a:buSzPts val="1200"/>
              <a:buChar char="●"/>
            </a:pPr>
            <a:r>
              <a:rPr lang="zh-TW" dirty="0" smtClean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altLang="zh-TW" sz="1100" dirty="0"/>
              <a:t>Pipeline Stage View </a:t>
            </a:r>
            <a:r>
              <a:rPr lang="zh-TW" altLang="en-US" sz="1100" dirty="0" smtClean="0"/>
              <a:t>下載這個 </a:t>
            </a:r>
            <a:r>
              <a:rPr lang="en-US" altLang="zh-TW" sz="1100" dirty="0"/>
              <a:t>Plugin</a:t>
            </a:r>
            <a:r>
              <a:rPr lang="zh-TW" altLang="en-US" sz="1100" dirty="0"/>
              <a:t> </a:t>
            </a:r>
            <a:endParaRPr lang="en-US" altLang="zh-TW" sz="1100" dirty="0" smtClean="0"/>
          </a:p>
          <a:p>
            <a:pPr lvl="0" indent="-304800">
              <a:buClr>
                <a:schemeClr val="dk1"/>
              </a:buClr>
              <a:buSzPts val="1200"/>
              <a:buChar char="●"/>
            </a:pPr>
            <a:r>
              <a:rPr lang="zh-TW" altLang="en-US" sz="11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安裝完畢後，你的部屬流程就會出現視圖顯示</a:t>
            </a:r>
            <a:endParaRPr sz="11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254000" lvl="0" indent="-260350" algn="l" rtl="0">
              <a:spcBef>
                <a:spcPts val="400"/>
              </a:spcBef>
              <a:spcAft>
                <a:spcPts val="0"/>
              </a:spcAft>
              <a:buSzPts val="1100"/>
              <a:buChar char="►"/>
            </a:pPr>
            <a:endParaRPr b="1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91" y="2169196"/>
            <a:ext cx="4741719" cy="245399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休息一下</a:t>
            </a:r>
            <a:r>
              <a:rPr lang="en-US" altLang="zh-TW" dirty="0" smtClean="0"/>
              <a:t>	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學員提問</a:t>
            </a:r>
            <a:endParaRPr lang="zh-TW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>
            <a:spLocks noGrp="1"/>
          </p:cNvSpPr>
          <p:nvPr>
            <p:ph type="title"/>
          </p:nvPr>
        </p:nvSpPr>
        <p:spPr>
          <a:xfrm>
            <a:off x="508000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流程：容器化部屬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383" name="Google Shape;383;p59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🐳 容器化專案流程：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從 Git 抓取程式碼。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build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建立映像。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stop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停止舊容器。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rm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刪除舊容器。</a:t>
            </a:r>
            <a:b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</a:b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10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run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啟動新容器。</a:t>
            </a:r>
          </a:p>
          <a:p>
            <a:pPr marL="254000" lvl="0" indent="-190500" algn="l" rtl="0"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0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流程：容器化部屬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389" name="Google Shape;389;p60"/>
          <p:cNvSpPr txBox="1">
            <a:spLocks noGrp="1"/>
          </p:cNvSpPr>
          <p:nvPr>
            <p:ph type="body" idx="1"/>
          </p:nvPr>
        </p:nvSpPr>
        <p:spPr>
          <a:xfrm>
            <a:off x="379250" y="59877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25000" lnSpcReduction="20000"/>
          </a:bodyPr>
          <a:lstStyle/>
          <a:p>
            <a:pPr marL="17526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86000"/>
              <a:buNone/>
            </a:pPr>
            <a:r>
              <a:rPr lang="zh-TW" sz="4400" dirty="0">
                <a:solidFill>
                  <a:srgbClr val="0F4761"/>
                </a:solidFill>
                <a:latin typeface="Aptos"/>
                <a:ea typeface="Aptos"/>
                <a:cs typeface="Aptos"/>
                <a:sym typeface="Aptos"/>
              </a:rPr>
              <a:t> Jenkinsfile 範例</a:t>
            </a:r>
            <a:endParaRPr sz="4400" dirty="0"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pipeline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agent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any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stages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stage('start')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 echo 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開始部屬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抓取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git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git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branch: 'main',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 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credentialsId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: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githubuser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',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    url: 'https://github.com/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coolyuoo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ClassHello.git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stage('2.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建立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image')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build -t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hello:latest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.'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stage('3.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停止舊容器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//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若不存在不要讓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pipeline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失敗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stop hello-c || exit /b 0'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stage('4.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刪除舊容器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rm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hello-c || exit /b 0'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stage('5.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啟動新容器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')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steps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//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名稱與映像一致；依你的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app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調整對外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內部埠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 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bat '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run -d --restart unless-stopped -p 8095:8000 --name hello-c </a:t>
            </a:r>
            <a:r>
              <a:rPr lang="en-US" altLang="zh-TW" sz="4400" dirty="0" err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hello:latest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 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</a:t>
            </a:r>
            <a:r>
              <a:rPr lang="en-US" altLang="zh-TW" sz="4400" dirty="0" smtClean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altLang="zh-TW" sz="4400" dirty="0">
              <a:solidFill>
                <a:schemeClr val="dk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post {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success { echo 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✅ 部署完成，容器已啟動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http://localhost:8080'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  failure { echo '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❌ 部署失敗，請檢查 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Jenkins Console </a:t>
            </a:r>
            <a:r>
              <a:rPr lang="zh-TW" altLang="en-US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輸出</a:t>
            </a: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'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 }</a:t>
            </a:r>
          </a:p>
          <a:p>
            <a:pPr marL="175260" lvl="0" indent="0">
              <a:spcBef>
                <a:spcPts val="400"/>
              </a:spcBef>
              <a:spcAft>
                <a:spcPts val="1000"/>
              </a:spcAft>
              <a:buClr>
                <a:schemeClr val="dk1"/>
              </a:buClr>
              <a:buSzPct val="109000"/>
              <a:buNone/>
            </a:pPr>
            <a:r>
              <a:rPr lang="en-US" altLang="zh-TW" sz="44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1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執行 CICD 流程：容器化部屬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395" name="Google Shape;395;p61"/>
          <p:cNvSpPr txBox="1">
            <a:spLocks noGrp="1"/>
          </p:cNvSpPr>
          <p:nvPr>
            <p:ph type="body" idx="1"/>
          </p:nvPr>
        </p:nvSpPr>
        <p:spPr>
          <a:xfrm>
            <a:off x="451400" y="1792800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✅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實作結果：</a:t>
            </a: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執行 Build Now，Jenkins 會自動： - 拉取程式碼 - 建立 Docker 映像 - 停止／刪除舊容器 - 啟動新容器</a:t>
            </a: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04800" algn="l" rtl="0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200"/>
              <a:buFont typeface="Aptos"/>
              <a:buAutoNum type="arabicPeriod"/>
            </a:pPr>
            <a:r>
              <a:rPr 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💡 </a:t>
            </a:r>
            <a:r>
              <a:rPr lang="zh-TW" sz="1200" b="1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到此為止，你已完成從傳統部署 → Docker 容器化的自動化流程！</a:t>
            </a:r>
            <a:endParaRPr>
              <a:solidFill>
                <a:srgbClr val="0F476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實務練習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792800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PMingLiU" panose="02020500000000000000" charset="-120"/>
                <a:ea typeface="PMingLiU" panose="02020500000000000000" charset="-120"/>
                <a:cs typeface="PMingLiU" panose="02020500000000000000" charset="-120"/>
                <a:sym typeface="PMingLiU" panose="02020500000000000000" charset="-120"/>
              </a:rPr>
              <a:t>準備兩台電腦，實務練習正式容器化部屬流程</a:t>
            </a:r>
            <a:endParaRPr sz="2000">
              <a:solidFill>
                <a:schemeClr val="dk1"/>
              </a:solidFill>
              <a:latin typeface="PMingLiU" panose="02020500000000000000" charset="-120"/>
              <a:ea typeface="PMingLiU" panose="02020500000000000000" charset="-120"/>
              <a:cs typeface="PMingLiU" panose="02020500000000000000" charset="-120"/>
              <a:sym typeface="PMingLiU" panose="02020500000000000000" charset="-120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1.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打勾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This project is parameterized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         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選擇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String Parameter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lang="en-US" alt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185" y="1712595"/>
            <a:ext cx="2979420" cy="3040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2.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填入資料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Name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可以隨意打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lang="en-US" alt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1946275"/>
            <a:ext cx="6539865" cy="2823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r>
              <a:rPr lang="zh-TW" dirty="0"/>
              <a:t/>
            </a:r>
            <a:br>
              <a:rPr lang="zh-TW" dirty="0"/>
            </a:br>
            <a:endParaRPr lang="zh-TW" dirty="0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3. pipeline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插入以下這串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parameters {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      string(name: 'VERSION', defaultValue: '', description: 'Git </a:t>
            </a:r>
            <a:r>
              <a:rPr lang="zh-HK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版本（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commit id</a:t>
            </a:r>
            <a:r>
              <a:rPr lang="zh-HK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）不輸入則抓取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	develop</a:t>
            </a:r>
            <a:r>
              <a:rPr lang="zh-HK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最新版本</a:t>
            </a: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')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HK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    }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要與上面設定的一樣，不然設定會跑掉</a:t>
            </a:r>
            <a:endParaRPr lang="en-US" altLang="zh-HK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endParaRPr lang="en-US" altLang="zh-TW" sz="12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4.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回到上一頁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5165"/>
            <a:ext cx="4462780" cy="1813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5. </a:t>
            </a:r>
            <a:r>
              <a:rPr lang="zh-TW" altLang="en-US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查找</a:t>
            </a:r>
            <a:r>
              <a:rPr lang="en-US" altLang="zh-TW" sz="1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 revision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980" y="1388745"/>
            <a:ext cx="4998720" cy="3573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zh-TW" altLang="en-US" sz="300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退版</a:t>
            </a:r>
            <a:r>
              <a:rPr lang="zh-TW"/>
              <a:t/>
            </a:r>
            <a:br>
              <a:rPr lang="zh-TW"/>
            </a:br>
            <a:endParaRPr lang="zh-TW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正式站檔案有問題，除了使用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GIT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退版以外，還可以用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Jenkins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先執行退版的動作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步驟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5. 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貼到</a:t>
            </a:r>
            <a:r>
              <a:rPr lang="en-US" altLang="zh-TW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build </a:t>
            </a: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空格，</a:t>
            </a:r>
          </a:p>
          <a:p>
            <a:pPr marL="457200" lvl="0" indent="0" algn="l" rtl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即可指定版本退版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370" y="1501775"/>
            <a:ext cx="3741420" cy="2987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 dirty="0" smtClean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en-US" altLang="zh-TW" sz="3000" dirty="0" err="1" smtClean="0">
                <a:latin typeface="+mj-ea"/>
                <a:ea typeface="+mj-ea"/>
                <a:cs typeface="Play" panose="00000500000000000000"/>
                <a:sym typeface="Play" panose="00000500000000000000"/>
              </a:rPr>
              <a:t>pollSCM</a:t>
            </a:r>
            <a:r>
              <a:rPr lang="zh-TW" dirty="0"/>
              <a:t/>
            </a:r>
            <a:br>
              <a:rPr lang="zh-TW" dirty="0"/>
            </a:br>
            <a:endParaRPr lang="zh-TW" dirty="0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altLang="zh-TW" sz="1200" dirty="0" err="1" smtClean="0">
                <a:latin typeface="Aptos"/>
                <a:cs typeface="Play" panose="00000500000000000000"/>
                <a:sym typeface="Play" panose="00000500000000000000"/>
              </a:rPr>
              <a:t>pollSCM</a:t>
            </a:r>
            <a:r>
              <a:rPr lang="zh-TW" altLang="en-US" sz="1200" dirty="0" smtClean="0">
                <a:latin typeface="Aptos"/>
                <a:cs typeface="Play" panose="00000500000000000000"/>
                <a:sym typeface="Play" panose="00000500000000000000"/>
              </a:rPr>
              <a:t>是排成部屬方式，優於一般手動部屬省去了進入頁面的</a:t>
            </a:r>
            <a:r>
              <a:rPr lang="zh-TW" altLang="en-US" sz="1200" dirty="0" smtClean="0">
                <a:latin typeface="Aptos"/>
                <a:cs typeface="Play" panose="00000500000000000000"/>
                <a:sym typeface="Play" panose="00000500000000000000"/>
              </a:rPr>
              <a:t>時間</a:t>
            </a:r>
            <a:endParaRPr lang="en-US" altLang="zh-TW" sz="1200" dirty="0" smtClean="0">
              <a:latin typeface="Aptos"/>
              <a:cs typeface="Play" panose="00000500000000000000"/>
              <a:sym typeface="Play" panose="00000500000000000000"/>
            </a:endParaRPr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 smtClean="0">
                <a:solidFill>
                  <a:schemeClr val="dk1"/>
                </a:solidFill>
                <a:latin typeface="Aptos"/>
                <a:ea typeface="Aptos"/>
                <a:cs typeface="Aptos"/>
                <a:sym typeface="Play" panose="00000500000000000000"/>
              </a:rPr>
              <a:t>進入</a:t>
            </a:r>
            <a:r>
              <a:rPr lang="en-US" altLang="zh-TW" dirty="0" smtClean="0"/>
              <a:t>Configuration</a:t>
            </a:r>
            <a:r>
              <a:rPr lang="zh-TW" altLang="en-US" dirty="0" smtClean="0"/>
              <a:t> 找到</a:t>
            </a:r>
            <a:r>
              <a:rPr lang="en-US" altLang="zh-TW" dirty="0" smtClean="0"/>
              <a:t>Triggers</a:t>
            </a:r>
            <a:br>
              <a:rPr lang="en-US" altLang="zh-TW" dirty="0" smtClean="0"/>
            </a:br>
            <a:r>
              <a:rPr lang="en-US" altLang="zh-TW" dirty="0" smtClean="0"/>
              <a:t>Poll SCM</a:t>
            </a:r>
            <a:r>
              <a:rPr lang="zh-TW" altLang="en-US" dirty="0" smtClean="0"/>
              <a:t>打勾後輸入</a:t>
            </a:r>
            <a:endParaRPr lang="en-US" altLang="zh-TW" dirty="0" smtClean="0"/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dirty="0" smtClean="0"/>
              <a:t>*</a:t>
            </a:r>
            <a:r>
              <a:rPr lang="en-US" altLang="zh-TW" dirty="0" smtClean="0"/>
              <a:t>/2</a:t>
            </a:r>
            <a:r>
              <a:rPr lang="zh-TW" altLang="en-US" dirty="0" smtClean="0"/>
              <a:t> * * * * </a:t>
            </a:r>
            <a:endParaRPr lang="en-US" altLang="zh-TW" dirty="0" smtClean="0"/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dirty="0" smtClean="0"/>
              <a:t>即可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508" y="1824905"/>
            <a:ext cx="4922050" cy="313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8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>
            <a:spLocks noGrp="1"/>
          </p:cNvSpPr>
          <p:nvPr>
            <p:ph type="title"/>
          </p:nvPr>
        </p:nvSpPr>
        <p:spPr>
          <a:xfrm>
            <a:off x="508000" y="543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 panose="020B0603020202020204"/>
              <a:buNone/>
            </a:pPr>
            <a:r>
              <a:rPr lang="zh-TW" sz="30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課程補充</a:t>
            </a:r>
            <a:r>
              <a:rPr lang="en-US" altLang="zh-TW" sz="3000" dirty="0" smtClean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:</a:t>
            </a:r>
            <a:r>
              <a:rPr lang="en-US" altLang="zh-TW" sz="3000" dirty="0" err="1" smtClean="0">
                <a:latin typeface="+mj-ea"/>
                <a:ea typeface="+mj-ea"/>
                <a:cs typeface="Play" panose="00000500000000000000"/>
                <a:sym typeface="Play" panose="00000500000000000000"/>
              </a:rPr>
              <a:t>pollSCM</a:t>
            </a:r>
            <a:r>
              <a:rPr lang="zh-TW" dirty="0"/>
              <a:t/>
            </a:r>
            <a:br>
              <a:rPr lang="zh-TW" dirty="0"/>
            </a:br>
            <a:endParaRPr lang="zh-TW" dirty="0"/>
          </a:p>
        </p:txBody>
      </p:sp>
      <p:sp>
        <p:nvSpPr>
          <p:cNvPr id="401" name="Google Shape;401;p62"/>
          <p:cNvSpPr txBox="1">
            <a:spLocks noGrp="1"/>
          </p:cNvSpPr>
          <p:nvPr>
            <p:ph type="body" idx="1"/>
          </p:nvPr>
        </p:nvSpPr>
        <p:spPr>
          <a:xfrm>
            <a:off x="451400" y="1045405"/>
            <a:ext cx="7151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 smtClean="0">
                <a:latin typeface="Aptos"/>
                <a:cs typeface="Play" panose="00000500000000000000"/>
                <a:sym typeface="Play" panose="00000500000000000000"/>
              </a:rPr>
              <a:t>觀察</a:t>
            </a:r>
            <a:r>
              <a:rPr lang="en-US" altLang="zh-TW" sz="1200" dirty="0" smtClean="0">
                <a:latin typeface="Aptos"/>
                <a:cs typeface="Play" panose="00000500000000000000"/>
                <a:sym typeface="Play" panose="00000500000000000000"/>
              </a:rPr>
              <a:t>Stage View</a:t>
            </a:r>
          </a:p>
          <a:p>
            <a:pPr lvl="0" indent="0">
              <a:spcBef>
                <a:spcPts val="1200"/>
              </a:spcBef>
              <a:spcAft>
                <a:spcPts val="900"/>
              </a:spcAft>
              <a:buNone/>
            </a:pPr>
            <a:r>
              <a:rPr lang="zh-TW" altLang="en-US" sz="1200" dirty="0">
                <a:latin typeface="Aptos"/>
                <a:sym typeface="Play" panose="00000500000000000000"/>
              </a:rPr>
              <a:t>每兩分鐘會部屬一次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sz="12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876" y="2083388"/>
            <a:ext cx="5284578" cy="287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3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多面向">
  <a:themeElements>
    <a:clrScheme name="多面向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1946</Words>
  <Application>Microsoft Office PowerPoint</Application>
  <PresentationFormat>如螢幕大小 (16:9)</PresentationFormat>
  <Paragraphs>314</Paragraphs>
  <Slides>42</Slides>
  <Notes>41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52" baseType="lpstr">
      <vt:lpstr>Aptos</vt:lpstr>
      <vt:lpstr>Consolas</vt:lpstr>
      <vt:lpstr>Play</vt:lpstr>
      <vt:lpstr>新細明體</vt:lpstr>
      <vt:lpstr>Arial Rounded MT Bold</vt:lpstr>
      <vt:lpstr>Arial</vt:lpstr>
      <vt:lpstr>新細明體</vt:lpstr>
      <vt:lpstr>Noto Sans Symbols</vt:lpstr>
      <vt:lpstr>Trebuchet MS</vt:lpstr>
      <vt:lpstr>多面向</vt:lpstr>
      <vt:lpstr>單元5.jenkins與docker的cicd使用</vt:lpstr>
      <vt:lpstr>目錄:</vt:lpstr>
      <vt:lpstr>課程導入</vt:lpstr>
      <vt:lpstr> CICD是什麼</vt:lpstr>
      <vt:lpstr>Jenkins是什麼</vt:lpstr>
      <vt:lpstr>Jenkins安裝步驟</vt:lpstr>
      <vt:lpstr>Jenkins安裝步驟</vt:lpstr>
      <vt:lpstr>Jenkins安裝步驟</vt:lpstr>
      <vt:lpstr>Jenkins安裝步驟</vt:lpstr>
      <vt:lpstr>Jenkins安裝步驟</vt:lpstr>
      <vt:lpstr>Jenkins安裝步驟</vt:lpstr>
      <vt:lpstr> Jenkins登入步驟</vt:lpstr>
      <vt:lpstr> Jenkins登入步驟</vt:lpstr>
      <vt:lpstr> Jenkins 介面介紹 （僅介紹會用到的功能）</vt:lpstr>
      <vt:lpstr> Jenkins 介面介紹 （僅介紹會用到的功能）</vt:lpstr>
      <vt:lpstr> Jenkins 介面介紹 （僅介紹會用到的功能）</vt:lpstr>
      <vt:lpstr> Jenkins 介面介紹 （僅介紹會用到的功能）</vt:lpstr>
      <vt:lpstr>建立 Pipeline 流水線與腳本建置</vt:lpstr>
      <vt:lpstr>建立 Pipeline 流水線與腳本建置</vt:lpstr>
      <vt:lpstr>Groovy 語法簡介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執行 CICD 流程：傳統部屬</vt:lpstr>
      <vt:lpstr>休息一下 </vt:lpstr>
      <vt:lpstr>執行 CICD 流程：容器化部屬 </vt:lpstr>
      <vt:lpstr>執行 CICD 流程：容器化部屬 </vt:lpstr>
      <vt:lpstr>執行 CICD 流程：容器化部屬 </vt:lpstr>
      <vt:lpstr>實務練習 </vt:lpstr>
      <vt:lpstr>課程補充:退版 </vt:lpstr>
      <vt:lpstr>課程補充:退版 </vt:lpstr>
      <vt:lpstr>課程補充:退版 </vt:lpstr>
      <vt:lpstr>課程補充:退版 </vt:lpstr>
      <vt:lpstr>課程補充:退版 </vt:lpstr>
      <vt:lpstr>課程補充:退版 </vt:lpstr>
      <vt:lpstr>課程補充:pollSCM </vt:lpstr>
      <vt:lpstr>課程補充:pollSCM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單元5.jenkins與docker的cicd使用</dc:title>
  <dc:creator/>
  <cp:lastModifiedBy>USER</cp:lastModifiedBy>
  <cp:revision>21</cp:revision>
  <dcterms:created xsi:type="dcterms:W3CDTF">2025-11-12T06:44:47Z</dcterms:created>
  <dcterms:modified xsi:type="dcterms:W3CDTF">2025-11-21T11:52:49Z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F5FBC79B6AF541E7A751DF31E3A8E5E5_12</vt:lpwstr>
  </property>
  <property fmtid="{D5CDD505-2E9C-101B-9397-08002B2CF9AE}" pid="3" name="KSOProductBuildVer">
    <vt:lpwstr>3076-12.9.0.21549</vt:lpwstr>
  </property>
</Properties>
</file>