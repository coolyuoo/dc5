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7" r:id="rId3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90" r:id="rId32"/>
    <p:sldId id="289" r:id="rId33"/>
    <p:sldId id="285" r:id="rId34"/>
    <p:sldId id="286" r:id="rId35"/>
    <p:sldId id="287" r:id="rId36"/>
    <p:sldId id="288" r:id="rId37"/>
    <p:sldId id="299" r:id="rId38"/>
    <p:sldId id="292" r:id="rId39"/>
    <p:sldId id="291" r:id="rId40"/>
    <p:sldId id="293" r:id="rId41"/>
    <p:sldId id="294" r:id="rId42"/>
    <p:sldId id="295" r:id="rId43"/>
    <p:sldId id="296" r:id="rId44"/>
    <p:sldId id="297" r:id="rId45"/>
    <p:sldId id="298" r:id="rId46"/>
  </p:sldIdLst>
  <p:sldSz cx="9144000" cy="5143500" type="screen16x9"/>
  <p:notesSz cx="6858000" cy="9144000"/>
  <p:embeddedFontLst>
    <p:embeddedFont>
      <p:font typeface="Trebuchet MS" panose="020B0603020202020204"/>
      <p:regular r:id="rId50"/>
    </p:embeddedFont>
    <p:embeddedFont>
      <p:font typeface="Trebuchet MS" panose="020B0603020202020204" charset="0"/>
      <p:regular r:id="rId51"/>
      <p:bold r:id="rId52"/>
      <p:italic r:id="rId53"/>
      <p:boldItalic r:id="rId54"/>
    </p:embeddedFont>
    <p:embeddedFont>
      <p:font typeface="Play" panose="00000500000000000000"/>
      <p:regular r:id="rId55"/>
      <p:bold r:id="rId56"/>
    </p:embeddedFont>
    <p:embeddedFont>
      <p:font typeface="Arial Rounded MT Bold" panose="020F0704030504030204" pitchFamily="34" charset="0"/>
      <p:regular r:id="rId57"/>
    </p:embeddedFont>
    <p:embeddedFont>
      <p:font typeface="Consolas" panose="020B0609020204030204"/>
      <p:regular r:id="rId58"/>
      <p:bold r:id="rId59"/>
      <p:italic r:id="rId60"/>
      <p:boldItalic r:id="rId61"/>
    </p:embeddedFont>
    <p:embeddedFont>
      <p:font typeface="PMingLiU" panose="02020500000000000000" charset="-120"/>
      <p:regular r:id="rId6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95" d="100"/>
          <a:sy n="95" d="100"/>
        </p:scale>
        <p:origin x="846" y="7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2" Type="http://schemas.openxmlformats.org/officeDocument/2006/relationships/font" Target="fonts/font13.fntdata"/><Relationship Id="rId61" Type="http://schemas.openxmlformats.org/officeDocument/2006/relationships/font" Target="fonts/font12.fntdata"/><Relationship Id="rId60" Type="http://schemas.openxmlformats.org/officeDocument/2006/relationships/font" Target="fonts/font11.fntdata"/><Relationship Id="rId6" Type="http://schemas.openxmlformats.org/officeDocument/2006/relationships/slide" Target="slides/slide3.xml"/><Relationship Id="rId59" Type="http://schemas.openxmlformats.org/officeDocument/2006/relationships/font" Target="fonts/font10.fntdata"/><Relationship Id="rId58" Type="http://schemas.openxmlformats.org/officeDocument/2006/relationships/font" Target="fonts/font9.fntdata"/><Relationship Id="rId57" Type="http://schemas.openxmlformats.org/officeDocument/2006/relationships/font" Target="fonts/font8.fntdata"/><Relationship Id="rId56" Type="http://schemas.openxmlformats.org/officeDocument/2006/relationships/font" Target="fonts/font7.fntdata"/><Relationship Id="rId55" Type="http://schemas.openxmlformats.org/officeDocument/2006/relationships/font" Target="fonts/font6.fntdata"/><Relationship Id="rId54" Type="http://schemas.openxmlformats.org/officeDocument/2006/relationships/font" Target="fonts/font5.fntdata"/><Relationship Id="rId53" Type="http://schemas.openxmlformats.org/officeDocument/2006/relationships/font" Target="fonts/font4.fntdata"/><Relationship Id="rId52" Type="http://schemas.openxmlformats.org/officeDocument/2006/relationships/font" Target="fonts/font3.fntdata"/><Relationship Id="rId51" Type="http://schemas.openxmlformats.org/officeDocument/2006/relationships/font" Target="fonts/font2.fntdata"/><Relationship Id="rId50" Type="http://schemas.openxmlformats.org/officeDocument/2006/relationships/font" Target="fonts/font1.fntdata"/><Relationship Id="rId5" Type="http://schemas.openxmlformats.org/officeDocument/2006/relationships/slide" Target="slides/slide2.xml"/><Relationship Id="rId49" Type="http://schemas.openxmlformats.org/officeDocument/2006/relationships/tableStyles" Target="tableStyles.xml"/><Relationship Id="rId48" Type="http://schemas.openxmlformats.org/officeDocument/2006/relationships/viewProps" Target="viewProps.xml"/><Relationship Id="rId47" Type="http://schemas.openxmlformats.org/officeDocument/2006/relationships/presProps" Target="presProps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a0ca8545bc_2_1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2" name="Google Shape;192;g3a0ca8545bc_2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a0ca8545bc_2_1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8" name="Google Shape;198;g3a0ca8545bc_2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0ca8545bc_2_1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g3a0ca8545bc_2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a0ca8545bc_2_15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g3a0ca8545bc_2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0ca8545bc_2_15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6" name="Google Shape;216;g3a0ca8545bc_2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a0ca8545bc_2_1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2" name="Google Shape;222;g3a0ca8545bc_2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a0ca8545bc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9" name="Google Shape;229;g3a0ca8545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a0ca8545bc_0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7" name="Google Shape;237;g3a0ca8545bc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a0ca8545bc_0_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4" name="Google Shape;244;g3a0ca8545b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a0ca8545bc_0_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1" name="Google Shape;251;g3a0ca8545bc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a0ca8545bc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8" name="Google Shape;258;g3a0ca8545bc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a0ca8545bc_2_16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4" name="Google Shape;264;g3a0ca8545bc_2_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a0ca8545bc_0_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1" name="Google Shape;271;g3a0ca8545bc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a0ca8545bc_2_1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9" name="Google Shape;279;g3a0ca8545bc_2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a0ca8545bc_0_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6" name="Google Shape;286;g3a0ca8545bc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a0ca8545bc_0_5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3" name="Google Shape;293;g3a0ca8545bc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a0ca8545bc_0_6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0" name="Google Shape;300;g3a0ca8545bc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a0ca8545bc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a0ca8545bc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a0ca8545bc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a0ca8545bc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a0ca8545bc_2_1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1" name="Google Shape;321;g3a0ca8545bc_2_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3a0ca8545bc_0_8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7" name="Google Shape;327;g3a0ca8545bc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a0ca8545bc_0_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3" name="Google Shape;333;g3a0ca8545bc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a0ca8545bc_0_1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0" name="Google Shape;340;g3a0ca8545bc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a0ca8545bc_0_1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7" name="Google Shape;347;g3a0ca8545bc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3a0ca8545bc_0_1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4" name="Google Shape;354;g3a0ca8545bc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a0ca8545bc_0_9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1" name="Google Shape;361;g3a0ca8545bc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a0ca8545bc_0_9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8" name="Google Shape;368;g3a0ca8545bc_0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a0ca8545bc_0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4" name="Google Shape;374;g3a0ca8545bc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a0ca8545bc_0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4" name="Google Shape;374;g3a0ca8545bc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a0ca8545bc_2_18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0" name="Google Shape;380;g3a0ca8545bc_2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a0ca8545bc_0_1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6" name="Google Shape;386;g3a0ca8545bc_0_1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a0ca8545bc_0_1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2" name="Google Shape;392;g3a0ca8545bc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matchingName="標題投影片">
  <p:cSld name="TITL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oogle Shape;68;p14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69" name="Google Shape;69;p14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0" name="Google Shape;70;p14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w="9525" cap="flat" cmpd="sng">
              <a:solidFill>
                <a:srgbClr val="D8D8D8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71" name="Google Shape;71;p14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 extrusionOk="0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803"/>
              </a:schemeClr>
            </a:solidFill>
            <a:ln>
              <a:noFill/>
            </a:ln>
          </p:spPr>
        </p:sp>
        <p:sp>
          <p:nvSpPr>
            <p:cNvPr id="72" name="Google Shape;72;p14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 extrusionOk="0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73" name="Google Shape;73;p14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1764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4" name="Google Shape;74;p14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 extrusionOk="0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803"/>
              </a:srgbClr>
            </a:solidFill>
            <a:ln>
              <a:noFill/>
            </a:ln>
          </p:spPr>
        </p:sp>
        <p:sp>
          <p:nvSpPr>
            <p:cNvPr id="75" name="Google Shape;75;p14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 extrusionOk="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803"/>
              </a:srgbClr>
            </a:solidFill>
            <a:ln>
              <a:noFill/>
            </a:ln>
          </p:spPr>
        </p:sp>
        <p:sp>
          <p:nvSpPr>
            <p:cNvPr id="76" name="Google Shape;76;p14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 extrusionOk="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705"/>
              </a:schemeClr>
            </a:solidFill>
            <a:ln>
              <a:noFill/>
            </a:ln>
          </p:spPr>
        </p:sp>
        <p:sp>
          <p:nvSpPr>
            <p:cNvPr id="77" name="Google Shape;77;p14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8" name="Google Shape;78;p14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4705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79" name="Google Shape;79;p14"/>
          <p:cNvSpPr txBox="1"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100"/>
              <a:buFont typeface="Trebuchet MS" panose="020B0603020202020204"/>
              <a:buNone/>
              <a:defRPr sz="4100">
                <a:solidFill>
                  <a:schemeClr val="accen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4"/>
          <p:cNvSpPr txBox="1"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r">
              <a:spcBef>
                <a:spcPts val="800"/>
              </a:spcBef>
              <a:spcAft>
                <a:spcPts val="0"/>
              </a:spcAft>
              <a:buSzPts val="1100"/>
              <a:buNone/>
              <a:defRPr>
                <a:solidFill>
                  <a:srgbClr val="7F7F7F"/>
                </a:solidFill>
              </a:defRPr>
            </a:lvl1pPr>
            <a:lvl2pPr lvl="1" algn="ctr">
              <a:spcBef>
                <a:spcPts val="8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80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81" name="Google Shape;81;p14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2" name="Google Shape;82;p14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4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標題及內容">
  <p:cSld name="OBJEC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5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  <a:defRPr sz="27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6" name="Google Shape;86;p15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87" name="Google Shape;87;p15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5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5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章節標題">
  <p:cSld name="SECTION_HEADER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6"/>
          <p:cNvSpPr txBox="1">
            <a:spLocks noGrp="1"/>
          </p:cNvSpPr>
          <p:nvPr>
            <p:ph type="title"/>
          </p:nvPr>
        </p:nvSpPr>
        <p:spPr>
          <a:xfrm>
            <a:off x="508001" y="2025650"/>
            <a:ext cx="6447501" cy="1369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Trebuchet MS" panose="020B0603020202020204"/>
              <a:buNone/>
              <a:defRPr sz="30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6"/>
          <p:cNvSpPr txBox="1"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200"/>
              <a:buNone/>
              <a:defRPr sz="15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93" name="Google Shape;93;p16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6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5" name="Google Shape;95;p16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兩個內容">
  <p:cSld name="TWO_OBJECT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7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17"/>
          <p:cNvSpPr txBox="1">
            <a:spLocks noGrp="1"/>
          </p:cNvSpPr>
          <p:nvPr>
            <p:ph type="body" idx="1"/>
          </p:nvPr>
        </p:nvSpPr>
        <p:spPr>
          <a:xfrm>
            <a:off x="508001" y="1620442"/>
            <a:ext cx="3138026" cy="2910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99" name="Google Shape;99;p17"/>
          <p:cNvSpPr txBox="1">
            <a:spLocks noGrp="1"/>
          </p:cNvSpPr>
          <p:nvPr>
            <p:ph type="body" idx="2"/>
          </p:nvPr>
        </p:nvSpPr>
        <p:spPr>
          <a:xfrm>
            <a:off x="3817477" y="1620442"/>
            <a:ext cx="3138026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00" name="Google Shape;100;p17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17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2" name="Google Shape;102;p17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較">
  <p:cSld name="TWO_OBJECTS_WITH_TEXT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18"/>
          <p:cNvSpPr txBox="1"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400"/>
              <a:buNone/>
              <a:defRPr sz="1800" b="0"/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200"/>
              <a:buNone/>
              <a:defRPr sz="1500" b="1"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 b="1"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9pPr>
          </a:lstStyle>
          <a:p/>
        </p:txBody>
      </p:sp>
      <p:sp>
        <p:nvSpPr>
          <p:cNvPr id="106" name="Google Shape;106;p18"/>
          <p:cNvSpPr txBox="1">
            <a:spLocks noGrp="1"/>
          </p:cNvSpPr>
          <p:nvPr>
            <p:ph type="body" idx="2"/>
          </p:nvPr>
        </p:nvSpPr>
        <p:spPr>
          <a:xfrm>
            <a:off x="506809" y="2052934"/>
            <a:ext cx="3139217" cy="2478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07" name="Google Shape;107;p18"/>
          <p:cNvSpPr txBox="1">
            <a:spLocks noGrp="1"/>
          </p:cNvSpPr>
          <p:nvPr>
            <p:ph type="body" idx="3"/>
          </p:nvPr>
        </p:nvSpPr>
        <p:spPr>
          <a:xfrm>
            <a:off x="3816287" y="1620737"/>
            <a:ext cx="3139213" cy="43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400"/>
              <a:buNone/>
              <a:defRPr sz="1800" b="0"/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200"/>
              <a:buNone/>
              <a:defRPr sz="1500" b="1"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 b="1"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9pPr>
          </a:lstStyle>
          <a:p/>
        </p:txBody>
      </p:sp>
      <p:sp>
        <p:nvSpPr>
          <p:cNvPr id="108" name="Google Shape;108;p18"/>
          <p:cNvSpPr txBox="1">
            <a:spLocks noGrp="1"/>
          </p:cNvSpPr>
          <p:nvPr>
            <p:ph type="body" idx="4"/>
          </p:nvPr>
        </p:nvSpPr>
        <p:spPr>
          <a:xfrm>
            <a:off x="3816288" y="2052934"/>
            <a:ext cx="3139213" cy="2478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09" name="Google Shape;109;p18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0" name="Google Shape;110;p18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18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只有標題">
  <p:cSld name="TITLE_ONLY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4" name="Google Shape;114;p19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19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6" name="Google Shape;116;p19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9" name="Google Shape;119;p20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0" name="Google Shape;120;p20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含輔助字幕的內容">
  <p:cSld name="OBJECT_WITH_CAPTION_TEXT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Trebuchet MS" panose="020B0603020202020204"/>
              <a:buNone/>
              <a:defRPr sz="15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1"/>
          <p:cNvSpPr txBox="1">
            <a:spLocks noGrp="1"/>
          </p:cNvSpPr>
          <p:nvPr>
            <p:ph type="body" idx="1"/>
          </p:nvPr>
        </p:nvSpPr>
        <p:spPr>
          <a:xfrm>
            <a:off x="3570346" y="386193"/>
            <a:ext cx="3385156" cy="4144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24" name="Google Shape;124;p21"/>
          <p:cNvSpPr txBox="1">
            <a:spLocks noGrp="1"/>
          </p:cNvSpPr>
          <p:nvPr>
            <p:ph type="body" idx="2"/>
          </p:nvPr>
        </p:nvSpPr>
        <p:spPr>
          <a:xfrm>
            <a:off x="508001" y="2082802"/>
            <a:ext cx="2890896" cy="1938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/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700"/>
              <a:buNone/>
              <a:defRPr sz="900"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9pPr>
          </a:lstStyle>
          <a:p/>
        </p:txBody>
      </p:sp>
      <p:sp>
        <p:nvSpPr>
          <p:cNvPr id="125" name="Google Shape;125;p21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6" name="Google Shape;126;p21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7" name="Google Shape;127;p21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含輔助字幕的圖片">
  <p:cSld name="PICTURE_WITH_CAPTION_TEXT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2"/>
          <p:cNvSpPr txBox="1">
            <a:spLocks noGrp="1"/>
          </p:cNvSpPr>
          <p:nvPr>
            <p:ph type="title"/>
          </p:nvPr>
        </p:nvSpPr>
        <p:spPr>
          <a:xfrm>
            <a:off x="508000" y="3600450"/>
            <a:ext cx="6447500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Trebuchet MS" panose="020B0603020202020204"/>
              <a:buNone/>
              <a:defRPr sz="18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0" name="Google Shape;130;p22"/>
          <p:cNvSpPr>
            <a:spLocks noGrp="1"/>
          </p:cNvSpPr>
          <p:nvPr>
            <p:ph type="pic" idx="2"/>
          </p:nvPr>
        </p:nvSpPr>
        <p:spPr>
          <a:xfrm>
            <a:off x="508000" y="457200"/>
            <a:ext cx="6447501" cy="2884288"/>
          </a:xfrm>
          <a:prstGeom prst="rect">
            <a:avLst/>
          </a:prstGeom>
          <a:noFill/>
          <a:ln>
            <a:noFill/>
          </a:ln>
        </p:spPr>
      </p:sp>
      <p:sp>
        <p:nvSpPr>
          <p:cNvPr id="131" name="Google Shape;131;p22"/>
          <p:cNvSpPr txBox="1">
            <a:spLocks noGrp="1"/>
          </p:cNvSpPr>
          <p:nvPr>
            <p:ph type="body" idx="1"/>
          </p:nvPr>
        </p:nvSpPr>
        <p:spPr>
          <a:xfrm>
            <a:off x="508000" y="4025503"/>
            <a:ext cx="6447500" cy="505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700"/>
              <a:buNone/>
              <a:defRPr sz="900"/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700"/>
              <a:buNone/>
              <a:defRPr sz="900"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9pPr>
          </a:lstStyle>
          <a:p/>
        </p:txBody>
      </p:sp>
      <p:sp>
        <p:nvSpPr>
          <p:cNvPr id="132" name="Google Shape;132;p22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3" name="Google Shape;133;p22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4" name="Google Shape;134;p22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與輔助字幕">
  <p:cSld name="標題與輔助字幕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3"/>
          <p:cNvSpPr txBox="1"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7" name="Google Shape;137;p23"/>
          <p:cNvSpPr txBox="1"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38" name="Google Shape;138;p23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9" name="Google Shape;139;p23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引述 (含輔助字幕)">
  <p:cSld name="引述 (含輔助字幕)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3" name="Google Shape;143;p24"/>
          <p:cNvSpPr txBox="1">
            <a:spLocks noGrp="1"/>
          </p:cNvSpPr>
          <p:nvPr>
            <p:ph type="body" idx="1"/>
          </p:nvPr>
        </p:nvSpPr>
        <p:spPr>
          <a:xfrm>
            <a:off x="1024604" y="2724150"/>
            <a:ext cx="5418393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000"/>
              <a:buFont typeface="Trebuchet MS" panose="020B0603020202020204"/>
              <a:buNone/>
              <a:defRPr sz="12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00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80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44" name="Google Shape;144;p24"/>
          <p:cNvSpPr txBox="1">
            <a:spLocks noGrp="1"/>
          </p:cNvSpPr>
          <p:nvPr>
            <p:ph type="body" idx="2"/>
          </p:nvPr>
        </p:nvSpPr>
        <p:spPr>
          <a:xfrm>
            <a:off x="508001" y="3352800"/>
            <a:ext cx="6447501" cy="1178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45" name="Google Shape;145;p24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6" name="Google Shape;146;p24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7" name="Google Shape;147;p24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  <p:sp>
        <p:nvSpPr>
          <p:cNvPr id="148" name="Google Shape;148;p24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6000" b="0" i="0" u="none" strike="noStrike" cap="none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“</a:t>
            </a:r>
            <a:endParaRPr sz="6000" b="0" i="0" u="none" strike="noStrike" cap="none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49" name="Google Shape;149;p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6000" b="0" i="0" u="none" strike="noStrike" cap="none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”</a:t>
            </a:r>
            <a:endParaRPr sz="1400" b="0" i="0" u="none" strike="noStrike" cap="none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名片">
  <p:cSld name="名片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2" name="Google Shape;152;p25"/>
          <p:cNvSpPr txBox="1"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53" name="Google Shape;153;p25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4" name="Google Shape;154;p25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5" name="Google Shape;155;p25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引述名片">
  <p:cSld name="引述名片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8" name="Google Shape;158;p26"/>
          <p:cNvSpPr txBox="1">
            <a:spLocks noGrp="1"/>
          </p:cNvSpPr>
          <p:nvPr>
            <p:ph type="body" idx="1"/>
          </p:nvPr>
        </p:nvSpPr>
        <p:spPr>
          <a:xfrm>
            <a:off x="507999" y="3009900"/>
            <a:ext cx="6447502" cy="385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400"/>
              <a:buFont typeface="Trebuchet MS" panose="020B0603020202020204"/>
              <a:buNone/>
              <a:defRPr sz="18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00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80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59" name="Google Shape;159;p26"/>
          <p:cNvSpPr txBox="1">
            <a:spLocks noGrp="1"/>
          </p:cNvSpPr>
          <p:nvPr>
            <p:ph type="body" idx="2"/>
          </p:nvPr>
        </p:nvSpPr>
        <p:spPr>
          <a:xfrm>
            <a:off x="508001" y="3395586"/>
            <a:ext cx="6447501" cy="1135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60" name="Google Shape;160;p26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1" name="Google Shape;161;p26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2" name="Google Shape;162;p26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  <p:sp>
        <p:nvSpPr>
          <p:cNvPr id="163" name="Google Shape;163;p26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6000" b="0" i="0" u="none" strike="noStrike" cap="none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“</a:t>
            </a:r>
            <a:endParaRPr sz="6000" b="0" i="0" u="none" strike="noStrike" cap="none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64" name="Google Shape;164;p26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6000" b="0" i="0" u="none" strike="noStrike" cap="none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”</a:t>
            </a:r>
            <a:endParaRPr sz="6000" b="0" i="0" u="none" strike="noStrike" cap="none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是非題">
  <p:cSld name="是非題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7"/>
          <p:cNvSpPr txBox="1">
            <a:spLocks noGrp="1"/>
          </p:cNvSpPr>
          <p:nvPr>
            <p:ph type="title"/>
          </p:nvPr>
        </p:nvSpPr>
        <p:spPr>
          <a:xfrm>
            <a:off x="514349" y="457200"/>
            <a:ext cx="6441152" cy="2266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7" name="Google Shape;167;p27"/>
          <p:cNvSpPr txBox="1">
            <a:spLocks noGrp="1"/>
          </p:cNvSpPr>
          <p:nvPr>
            <p:ph type="body" idx="1"/>
          </p:nvPr>
        </p:nvSpPr>
        <p:spPr>
          <a:xfrm>
            <a:off x="507999" y="3009900"/>
            <a:ext cx="6447502" cy="385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400"/>
              <a:buFont typeface="Trebuchet MS" panose="020B0603020202020204"/>
              <a:buNone/>
              <a:defRPr sz="1800">
                <a:solidFill>
                  <a:schemeClr val="accent1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00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80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68" name="Google Shape;168;p27"/>
          <p:cNvSpPr txBox="1">
            <a:spLocks noGrp="1"/>
          </p:cNvSpPr>
          <p:nvPr>
            <p:ph type="body" idx="2"/>
          </p:nvPr>
        </p:nvSpPr>
        <p:spPr>
          <a:xfrm>
            <a:off x="508001" y="3395586"/>
            <a:ext cx="6447501" cy="1135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69" name="Google Shape;169;p27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0" name="Google Shape;170;p27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1" name="Google Shape;171;p27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標題及直排文字">
  <p:cSld name="VERTICAL_TEX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4" name="Google Shape;174;p28"/>
          <p:cNvSpPr txBox="1">
            <a:spLocks noGrp="1"/>
          </p:cNvSpPr>
          <p:nvPr>
            <p:ph type="body" idx="1"/>
          </p:nvPr>
        </p:nvSpPr>
        <p:spPr>
          <a:xfrm rot="5400000">
            <a:off x="2276461" y="-148019"/>
            <a:ext cx="2910580" cy="6447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75" name="Google Shape;175;p28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6" name="Google Shape;176;p28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7" name="Google Shape;177;p28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直排標題及文字">
  <p:cSld name="VERTICAL_TITLE_AND_VERTICAL_TEXT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9"/>
          <p:cNvSpPr txBox="1">
            <a:spLocks noGrp="1"/>
          </p:cNvSpPr>
          <p:nvPr>
            <p:ph type="title"/>
          </p:nvPr>
        </p:nvSpPr>
        <p:spPr>
          <a:xfrm rot="5400000">
            <a:off x="4495739" y="1937215"/>
            <a:ext cx="3938588" cy="978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0" name="Google Shape;180;p29"/>
          <p:cNvSpPr txBox="1">
            <a:spLocks noGrp="1"/>
          </p:cNvSpPr>
          <p:nvPr>
            <p:ph type="body" idx="1"/>
          </p:nvPr>
        </p:nvSpPr>
        <p:spPr>
          <a:xfrm rot="5400000">
            <a:off x="1186264" y="-221062"/>
            <a:ext cx="3938588" cy="5295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81" name="Google Shape;181;p29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2" name="Google Shape;182;p29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3" name="Google Shape;183;p29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13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52" name="Google Shape;52;p13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3" name="Google Shape;53;p13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w="9525" cap="flat" cmpd="sng">
              <a:solidFill>
                <a:srgbClr val="D8D8D8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4" name="Google Shape;54;p1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 extrusionOk="0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803"/>
              </a:schemeClr>
            </a:solidFill>
            <a:ln>
              <a:noFill/>
            </a:ln>
          </p:spPr>
        </p:sp>
        <p:sp>
          <p:nvSpPr>
            <p:cNvPr id="55" name="Google Shape;55;p13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 extrusionOk="0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56" name="Google Shape;56;p1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1764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7" name="Google Shape;57;p13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 extrusionOk="0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803"/>
              </a:srgbClr>
            </a:solidFill>
            <a:ln>
              <a:noFill/>
            </a:ln>
          </p:spPr>
        </p:sp>
        <p:sp>
          <p:nvSpPr>
            <p:cNvPr id="58" name="Google Shape;58;p13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 extrusionOk="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803"/>
              </a:srgbClr>
            </a:solidFill>
            <a:ln>
              <a:noFill/>
            </a:ln>
          </p:spPr>
        </p:sp>
        <p:sp>
          <p:nvSpPr>
            <p:cNvPr id="59" name="Google Shape;59;p13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 extrusionOk="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705"/>
              </a:schemeClr>
            </a:solidFill>
            <a:ln>
              <a:noFill/>
            </a:ln>
          </p:spPr>
        </p:sp>
        <p:sp>
          <p:nvSpPr>
            <p:cNvPr id="60" name="Google Shape;60;p13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1" name="Google Shape;61;p13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4705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62" name="Google Shape;62;p13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  <a:defRPr sz="2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3" name="Google Shape;63;p13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984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►"/>
              <a:defRPr sz="1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L="914400" marR="0" lvl="1" indent="-2921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L="1371600" marR="0" lvl="2" indent="-2794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800"/>
              <a:buFont typeface="Noto Sans Symbols"/>
              <a:buChar char="►"/>
              <a:defRPr sz="11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L="1828800" marR="0" lvl="3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L="2286000" marR="0" lvl="4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L="2743200" marR="0" lvl="5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L="3200400" marR="0" lvl="6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L="3657600" marR="0" lvl="7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L="4114800" marR="0" lvl="8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/>
        </p:txBody>
      </p:sp>
      <p:sp>
        <p:nvSpPr>
          <p:cNvPr id="64" name="Google Shape;64;p13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100"/>
              <a:buNone/>
              <a:defRPr sz="700" b="0" i="0" u="none" strike="noStrike" cap="none">
                <a:solidFill>
                  <a:srgbClr val="888888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/>
        </p:txBody>
      </p:sp>
      <p:sp>
        <p:nvSpPr>
          <p:cNvPr id="65" name="Google Shape;65;p13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700" b="0" i="0" u="none" strike="noStrike" cap="none">
                <a:solidFill>
                  <a:srgbClr val="888888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/>
        </p:txBody>
      </p:sp>
      <p:sp>
        <p:nvSpPr>
          <p:cNvPr id="66" name="Google Shape;66;p13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1" Type="http://schemas.openxmlformats.org/officeDocument/2006/relationships/hyperlink" Target="https://www.oracle.com/java/technologies/javase/jdk21-archive-downloads.html" TargetMode="Externa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hyperlink" Target="https://www.jenkins.io/download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2.xml"/><Relationship Id="rId1" Type="http://schemas.openxmlformats.org/officeDocument/2006/relationships/hyperlink" Target="https://www.youtube.com/channel/UCjguLQ886u9X-gSucGgmVFw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1"/>
          <p:cNvSpPr txBox="1">
            <a:spLocks noGrp="1"/>
          </p:cNvSpPr>
          <p:nvPr>
            <p:ph type="ctrTitle"/>
          </p:nvPr>
        </p:nvSpPr>
        <p:spPr>
          <a:xfrm>
            <a:off x="408146" y="1071086"/>
            <a:ext cx="6689408" cy="1516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100"/>
              <a:buFont typeface="Trebuchet MS" panose="020B0603020202020204"/>
              <a:buNone/>
            </a:pPr>
            <a:r>
              <a:rPr lang="zh-TW"/>
              <a:t>單元5.jenkins與docker的cicd使用</a:t>
            </a:r>
            <a:endParaRPr lang="zh-TW"/>
          </a:p>
        </p:txBody>
      </p:sp>
      <p:sp>
        <p:nvSpPr>
          <p:cNvPr id="195" name="Google Shape;195;p31"/>
          <p:cNvSpPr txBox="1"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zh-TW">
                <a:solidFill>
                  <a:schemeClr val="accent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授課講師:Kevin</a:t>
            </a:r>
            <a:endParaRPr>
              <a:solidFill>
                <a:schemeClr val="accent2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lvl="0" indent="0" algn="r" rtl="0">
              <a:spcBef>
                <a:spcPts val="800"/>
              </a:spcBef>
              <a:spcAft>
                <a:spcPts val="0"/>
              </a:spcAft>
              <a:buSzPts val="1100"/>
              <a:buNone/>
            </a:pPr>
            <a:endParaRPr>
              <a:solidFill>
                <a:schemeClr val="accent2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lvl="0" indent="0" algn="r" rtl="0">
              <a:spcBef>
                <a:spcPts val="800"/>
              </a:spcBef>
              <a:spcAft>
                <a:spcPts val="0"/>
              </a:spcAft>
              <a:buSzPts val="1100"/>
              <a:buNone/>
            </a:pPr>
            <a:endParaRPr>
              <a:solidFill>
                <a:schemeClr val="accent2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2"/>
          <p:cNvSpPr txBox="1">
            <a:spLocks noGrp="1"/>
          </p:cNvSpPr>
          <p:nvPr>
            <p:ph type="ctrTitle"/>
          </p:nvPr>
        </p:nvSpPr>
        <p:spPr>
          <a:xfrm>
            <a:off x="1003853" y="208722"/>
            <a:ext cx="1439285" cy="831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100"/>
              <a:buFont typeface="Trebuchet MS" panose="020B0603020202020204"/>
              <a:buNone/>
            </a:pPr>
            <a:r>
              <a:rPr lang="zh-TW"/>
              <a:t>目錄:</a:t>
            </a:r>
            <a:endParaRPr lang="zh-TW"/>
          </a:p>
        </p:txBody>
      </p:sp>
      <p:sp>
        <p:nvSpPr>
          <p:cNvPr id="201" name="Google Shape;201;p32"/>
          <p:cNvSpPr txBox="1">
            <a:spLocks noGrp="1"/>
          </p:cNvSpPr>
          <p:nvPr>
            <p:ph type="subTitle" idx="1"/>
          </p:nvPr>
        </p:nvSpPr>
        <p:spPr>
          <a:xfrm>
            <a:off x="473869" y="1091565"/>
            <a:ext cx="5431155" cy="3680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37500" lnSpcReduction="20000"/>
          </a:bodyPr>
          <a:lstStyle/>
          <a:p>
            <a:pPr marL="215900" lvl="0" indent="-246380" algn="l" rtl="0">
              <a:spcBef>
                <a:spcPts val="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CICD 是什麼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Jenkins 是什麼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Jenkins 安裝步驟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Jenkins 登入步驟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Jenkins 介面介紹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建立 Pipeline 流水線與腳本建置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Groovy 語法簡介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執行 CICD 流程：傳統部屬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執行 CICD 流程：容器化部屬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實務</a:t>
            </a:r>
            <a:r>
              <a:rPr lang="zh-TW" sz="3930" dirty="0" smtClean="0">
                <a:solidFill>
                  <a:schemeClr val="tx1"/>
                </a:solidFill>
                <a:uFillTx/>
                <a:latin typeface="Trebuchet MS" panose="020B0603020202020204" charset="0"/>
              </a:rPr>
              <a:t>練習</a:t>
            </a:r>
            <a:endParaRPr lang="en-US" altLang="zh-TW" sz="3930" dirty="0" smtClean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>
              <a:buSzPct val="90000"/>
              <a:buFont typeface="Arial" panose="020B0604020202020204"/>
              <a:buChar char="•"/>
            </a:pPr>
            <a:r>
              <a:rPr lang="zh-TW" altLang="zh-TW" sz="4000" dirty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4000" dirty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4000" dirty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</a:t>
            </a:r>
            <a:r>
              <a:rPr lang="zh-TW" altLang="en-US" sz="4000" dirty="0" smtClean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版</a:t>
            </a:r>
            <a:endParaRPr lang="en-US" altLang="zh-TW" sz="4000" dirty="0" smtClean="0">
              <a:solidFill>
                <a:schemeClr val="tx1"/>
              </a:solidFill>
              <a:latin typeface="Play" panose="00000500000000000000"/>
              <a:ea typeface="Play" panose="00000500000000000000"/>
              <a:cs typeface="Play" panose="00000500000000000000"/>
              <a:sym typeface="Play" panose="00000500000000000000"/>
            </a:endParaRPr>
          </a:p>
          <a:p>
            <a:pPr marL="215900" indent="-246380" algn="l">
              <a:buSzPct val="90000"/>
              <a:buFont typeface="Arial" panose="020B0604020202020204"/>
              <a:buChar char="•"/>
            </a:pPr>
            <a:r>
              <a:rPr lang="zh-TW" altLang="en-US" sz="4000" dirty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4000" dirty="0" smtClean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en-US" altLang="zh-TW" sz="4000" dirty="0" err="1" smtClean="0">
                <a:solidFill>
                  <a:schemeClr val="tx1"/>
                </a:solidFill>
                <a:latin typeface="Arial Rounded MT Bold" panose="020F0704030504030204" pitchFamily="34" charset="0"/>
                <a:ea typeface="Play" panose="00000500000000000000"/>
                <a:cs typeface="Play" panose="00000500000000000000"/>
                <a:sym typeface="Play" panose="00000500000000000000"/>
              </a:rPr>
              <a:t>pollSCM</a:t>
            </a:r>
            <a:br>
              <a:rPr lang="zh-TW" altLang="zh-TW" sz="4000" dirty="0"/>
            </a:b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139700" algn="l" rtl="0">
              <a:spcBef>
                <a:spcPts val="800"/>
              </a:spcBef>
              <a:spcAft>
                <a:spcPts val="0"/>
              </a:spcAft>
              <a:buSzPct val="81000"/>
              <a:buFont typeface="Arial" panose="020B0604020202020204"/>
              <a:buNone/>
            </a:pPr>
            <a:endParaRPr sz="2100" dirty="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SzPct val="79000"/>
              <a:buNone/>
            </a:pPr>
            <a:endParaRPr sz="2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3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課程導入</a:t>
            </a:r>
            <a:endParaRPr lang="zh-TW"/>
          </a:p>
        </p:txBody>
      </p:sp>
      <p:sp>
        <p:nvSpPr>
          <p:cNvPr id="207" name="Google Shape;207;p33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254000" lvl="0" indent="-260350" algn="l" rtl="0">
              <a:spcBef>
                <a:spcPts val="0"/>
              </a:spcBef>
              <a:spcAft>
                <a:spcPts val="0"/>
              </a:spcAft>
              <a:buSzPts val="1100"/>
              <a:buChar char="►"/>
            </a:pPr>
            <a:r>
              <a:rPr lang="zh-TW"/>
              <a:t>學習JENKINS 基本操作</a:t>
            </a:r>
            <a:endParaRPr lang="zh-TW"/>
          </a:p>
          <a:p>
            <a:pPr marL="254000" lvl="0" indent="-260350" algn="l" rtl="0">
              <a:spcBef>
                <a:spcPts val="800"/>
              </a:spcBef>
              <a:spcAft>
                <a:spcPts val="0"/>
              </a:spcAft>
              <a:buSzPts val="1100"/>
              <a:buChar char="►"/>
            </a:pPr>
            <a:r>
              <a:rPr lang="zh-TW"/>
              <a:t>學會PIPELINE流水線腳本</a:t>
            </a:r>
            <a:endParaRPr lang="zh-TW"/>
          </a:p>
          <a:p>
            <a:pPr marL="254000" lvl="0" indent="-260350" algn="l" rtl="0">
              <a:spcBef>
                <a:spcPts val="800"/>
              </a:spcBef>
              <a:spcAft>
                <a:spcPts val="0"/>
              </a:spcAft>
              <a:buSzPts val="1100"/>
              <a:buChar char="►"/>
            </a:pPr>
            <a:r>
              <a:rPr lang="zh-TW"/>
              <a:t>PIPELINE的傳統部屬與容器化部屬方式</a:t>
            </a:r>
            <a:endParaRPr lang="zh-TW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4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700"/>
              <a:t> </a:t>
            </a:r>
            <a:r>
              <a:rPr lang="zh-TW"/>
              <a:t>CICD是什麼</a:t>
            </a:r>
            <a:endParaRPr lang="zh-TW"/>
          </a:p>
        </p:txBody>
      </p:sp>
      <p:sp>
        <p:nvSpPr>
          <p:cNvPr id="213" name="Google Shape;213;p34"/>
          <p:cNvSpPr txBox="1">
            <a:spLocks noGrp="1"/>
          </p:cNvSpPr>
          <p:nvPr>
            <p:ph type="body" idx="1"/>
          </p:nvPr>
        </p:nvSpPr>
        <p:spPr>
          <a:xfrm>
            <a:off x="508159" y="1188720"/>
            <a:ext cx="6447473" cy="3497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CI（Continuous Integration）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：持續整合 — 電腦幫你自動化整合、測試專案。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CD（Continuous Deployment）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：持續部署 — 自動化部署程式到伺服器。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🔍 沒有 CICD 的情境：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在本機開發並測試網站。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手動上傳專案到公司測試主機（使用 FTP、複製、壓縮等方式）。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測試完成後再通知客戶測試。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⚙️ 有 CICD 的情境：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開發者將程式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push 到 GitLab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 偵測到新的 Commit，自動抓取程式。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自動進行單元測試與整合。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 將專案部署至測試伺服器。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自動通知團隊「部署完成」。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💡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簡單來說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：CICD 就是「讓電腦自動幫你完成整個上線流程」。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0350" algn="l" rtl="0">
              <a:spcBef>
                <a:spcPts val="900"/>
              </a:spcBef>
              <a:spcAft>
                <a:spcPts val="0"/>
              </a:spcAft>
              <a:buSzPts val="1100"/>
              <a:buChar char="►"/>
            </a:pPr>
            <a:endParaRPr b="1"/>
          </a:p>
          <a:p>
            <a:pPr marL="558800" lvl="1" indent="-152400" algn="l" rtl="0">
              <a:spcBef>
                <a:spcPts val="800"/>
              </a:spcBef>
              <a:spcAft>
                <a:spcPts val="0"/>
              </a:spcAft>
              <a:buSzPts val="1000"/>
              <a:buNone/>
            </a:pPr>
            <a:endParaRPr sz="12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5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Jenkins是什麼</a:t>
            </a:r>
            <a:endParaRPr lang="zh-TW"/>
          </a:p>
        </p:txBody>
      </p:sp>
      <p:sp>
        <p:nvSpPr>
          <p:cNvPr id="219" name="Google Shape;219;p35"/>
          <p:cNvSpPr txBox="1">
            <a:spLocks noGrp="1"/>
          </p:cNvSpPr>
          <p:nvPr>
            <p:ph type="body" idx="1"/>
          </p:nvPr>
        </p:nvSpPr>
        <p:spPr>
          <a:xfrm>
            <a:off x="508159" y="1389221"/>
            <a:ext cx="6889433" cy="3357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 是一個開源的自動化 CI/CD 工具，能幫助團隊自動完成： &gt; 編譯 → 測試 → 打包 → 部署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🔧 Jenkins 的運作方式：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監聽程式碼版本庫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（例如 GitLab / GitHub）。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偵測到新程式碼後，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自動觸發 Pipeline 流程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執行腳本（Jenkinsfile）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，自動建置與部署。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回報狀態與通知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：成功、失敗、Log、Email、Slack 通知等。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💡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比喻：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Jenkins 就像是一位「自動化助理工程師」，不會偷懶、不會忘記，也不會出錯。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0" algn="l" rtl="0">
              <a:spcBef>
                <a:spcPts val="900"/>
              </a:spcBef>
              <a:spcAft>
                <a:spcPts val="0"/>
              </a:spcAft>
              <a:buNone/>
            </a:pPr>
            <a:endParaRPr sz="1400"/>
          </a:p>
          <a:p>
            <a:pPr marL="558800" lvl="1" indent="-165100" algn="l" rtl="0">
              <a:spcBef>
                <a:spcPts val="800"/>
              </a:spcBef>
              <a:spcAft>
                <a:spcPts val="0"/>
              </a:spcAft>
              <a:buSzPts val="1000"/>
              <a:buNone/>
            </a:pPr>
            <a:endParaRPr sz="1200"/>
          </a:p>
          <a:p>
            <a:pPr marL="558800" lvl="1" indent="-165100" algn="l" rtl="0">
              <a:spcBef>
                <a:spcPts val="800"/>
              </a:spcBef>
              <a:spcAft>
                <a:spcPts val="0"/>
              </a:spcAft>
              <a:buSzPts val="1000"/>
              <a:buNone/>
            </a:pPr>
            <a:endParaRPr sz="12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6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25" name="Google Shape;225;p36"/>
          <p:cNvSpPr/>
          <p:nvPr/>
        </p:nvSpPr>
        <p:spPr>
          <a:xfrm>
            <a:off x="369295" y="1077700"/>
            <a:ext cx="8193900" cy="38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1：安裝 Java </a:t>
            </a:r>
            <a:r>
              <a:rPr lang="en-US" alt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21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前往下載：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👉 </a:t>
            </a:r>
            <a:r>
              <a:rPr lang="zh-TW" sz="1200">
                <a:solidFill>
                  <a:srgbClr val="156082"/>
                </a:solidFill>
                <a:uFill>
                  <a:noFill/>
                </a:uFill>
                <a:latin typeface="Aptos"/>
                <a:ea typeface="Aptos"/>
                <a:cs typeface="Aptos"/>
                <a:sym typeface="Aptos"/>
                <a:hlinkClick r:id="rId1"/>
              </a:rPr>
              <a:t>Oracle JDK 21 下載頁面</a:t>
            </a:r>
            <a:endParaRPr lang="zh-TW" sz="1200">
              <a:solidFill>
                <a:srgbClr val="156082"/>
              </a:solidFill>
              <a:uFill>
                <a:noFill/>
              </a:uFill>
              <a:latin typeface="Aptos"/>
              <a:ea typeface="Aptos"/>
              <a:cs typeface="Aptos"/>
              <a:sym typeface="Aptos"/>
              <a:hlinkClick r:id="rId1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Windows x64 msi Installer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安裝完成後，確認路徑：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C:\Program Files\Java\jdk-21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26" name="Google Shape;226;p36" title="Snipaste_2025-11-06_10-20-28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2800950" y="1630950"/>
            <a:ext cx="5956202" cy="2699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7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32" name="Google Shape;232;p37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前往官網下載：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👉 </a:t>
            </a:r>
            <a:r>
              <a:rPr lang="zh-TW" sz="1200">
                <a:solidFill>
                  <a:srgbClr val="156082"/>
                </a:solidFill>
                <a:uFill>
                  <a:noFill/>
                </a:uFill>
                <a:latin typeface="Aptos"/>
                <a:ea typeface="Aptos"/>
                <a:cs typeface="Aptos"/>
                <a:sym typeface="Aptos"/>
                <a:hlinkClick r:id="rId1"/>
              </a:rPr>
              <a:t>https://www.jenkins.io/download/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33" name="Google Shape;233;p37" title="Snipaste_2025-11-05_10-07-06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3406625" y="152675"/>
            <a:ext cx="3147876" cy="2853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37" title="Snipaste_2025-11-05_10-10-27.png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1415800" y="3329725"/>
            <a:ext cx="3359027" cy="159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40" name="Google Shape;240;p38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安裝下一步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41" name="Google Shape;241;p38" title="Snipaste_2025-11-05_13-50-46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384050" y="1076650"/>
            <a:ext cx="4626224" cy="35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9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47" name="Google Shape;247;p39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安裝下一步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選第一個 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48" name="Google Shape;248;p39" title="Snipaste_2025-11-05_13-53-04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689248" y="605250"/>
            <a:ext cx="5167901" cy="4026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0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54" name="Google Shape;254;p40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安裝下一步</a:t>
            </a:r>
            <a:b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</a:br>
            <a:b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這邊要選擇Jave21安裝的路徑</a:t>
            </a:r>
            <a:b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</a:br>
            <a:b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</a:b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55" name="Google Shape;255;p40" title="Snipaste_2025-11-05_17-36-57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587350" y="1034825"/>
            <a:ext cx="4918574" cy="3813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1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61" name="Google Shape;261;p41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安裝完成後，開啟瀏覽器：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http://localhost:8080/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若看到jenkins畫面，代表安裝成功。</a:t>
            </a: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安裝教學影片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:</a:t>
            </a: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altLang="zh-HK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https://www.youtube.com/watch?v=k5fgRnTW3WY</a:t>
            </a:r>
            <a:endParaRPr lang="en-US" altLang="zh-HK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Jenkins登入步驟</a:t>
            </a:r>
            <a:endParaRPr lang="zh-TW"/>
          </a:p>
        </p:txBody>
      </p:sp>
      <p:sp>
        <p:nvSpPr>
          <p:cNvPr id="267" name="Google Shape;267;p42"/>
          <p:cNvSpPr/>
          <p:nvPr/>
        </p:nvSpPr>
        <p:spPr>
          <a:xfrm>
            <a:off x="333325" y="992400"/>
            <a:ext cx="8187300" cy="3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開啟路徑：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C:\ProgramData\Jenkins\.jenkins\secrets\initialAdminPassword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 startAt="2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複製密鑰貼入登入頁面。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 startAt="2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選擇「預設安裝」。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 startAt="2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建立帳號（建議帳密都先設為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admin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 startAt="2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成功登入後，看到 Jenkins 主畫面。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Noto Sans Symbols"/>
              <a:buNone/>
            </a:pPr>
            <a:endParaRPr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68" name="Google Shape;268;p42" title="Snipaste_2025-11-05_18-05-48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033550" y="1952550"/>
            <a:ext cx="2970724" cy="1961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3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Jenkins登入步驟</a:t>
            </a:r>
            <a:endParaRPr lang="zh-TW"/>
          </a:p>
        </p:txBody>
      </p:sp>
      <p:sp>
        <p:nvSpPr>
          <p:cNvPr id="274" name="Google Shape;274;p43"/>
          <p:cNvSpPr/>
          <p:nvPr/>
        </p:nvSpPr>
        <p:spPr>
          <a:xfrm>
            <a:off x="333325" y="992400"/>
            <a:ext cx="8187300" cy="3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45720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4.建立帳號（建議帳密都先設為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admin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5.成功登入後，看到 Jenkins 主畫面。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Noto Sans Symbols"/>
              <a:buNone/>
            </a:pPr>
            <a:endParaRPr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75" name="Google Shape;275;p43" title="Snipaste_2025-11-05_18-11-00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486151" y="55750"/>
            <a:ext cx="3850199" cy="25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43" title="Snipaste_2025-11-05_18-13-46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3554625" y="2664625"/>
            <a:ext cx="5018052" cy="2262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44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</a:t>
            </a:r>
            <a:r>
              <a:rPr lang="zh-TW" sz="2930"/>
              <a:t>Jenkins 介面介紹</a:t>
            </a:r>
            <a:endParaRPr sz="293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930"/>
              <a:t>（僅介紹會用到的功能）</a:t>
            </a:r>
            <a:endParaRPr sz="1700"/>
          </a:p>
        </p:txBody>
      </p:sp>
      <p:sp>
        <p:nvSpPr>
          <p:cNvPr id="282" name="Google Shape;282;p44"/>
          <p:cNvSpPr/>
          <p:nvPr/>
        </p:nvSpPr>
        <p:spPr>
          <a:xfrm>
            <a:off x="508159" y="1536859"/>
            <a:ext cx="8012430" cy="3426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 b="1">
                <a:latin typeface="Aptos"/>
                <a:ea typeface="Aptos"/>
                <a:cs typeface="Aptos"/>
                <a:sym typeface="Aptos"/>
              </a:rPr>
              <a:t>New Item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latin typeface="Aptos"/>
                <a:ea typeface="Aptos"/>
                <a:cs typeface="Aptos"/>
                <a:sym typeface="Aptos"/>
              </a:rPr>
              <a:t>建立新的自動化流程專案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83" name="Google Shape;283;p4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839475" y="1711324"/>
            <a:ext cx="6009299" cy="3077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5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</a:t>
            </a:r>
            <a:r>
              <a:rPr lang="zh-TW" sz="2930"/>
              <a:t>Jenkins 介面介紹</a:t>
            </a:r>
            <a:endParaRPr sz="293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930"/>
              <a:t>（僅介紹會用到的功能）</a:t>
            </a:r>
            <a:endParaRPr sz="1700"/>
          </a:p>
        </p:txBody>
      </p:sp>
      <p:sp>
        <p:nvSpPr>
          <p:cNvPr id="289" name="Google Shape;289;p45"/>
          <p:cNvSpPr/>
          <p:nvPr/>
        </p:nvSpPr>
        <p:spPr>
          <a:xfrm>
            <a:off x="390059" y="1536859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 b="1">
                <a:latin typeface="Aptos"/>
                <a:ea typeface="Aptos"/>
                <a:cs typeface="Aptos"/>
                <a:sym typeface="Aptos"/>
              </a:rPr>
              <a:t>Build History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latin typeface="Aptos"/>
                <a:ea typeface="Aptos"/>
                <a:cs typeface="Aptos"/>
                <a:sym typeface="Aptos"/>
              </a:rPr>
              <a:t>查看歷史部屬紀錄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 b="1"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90" name="Google Shape;290;p45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82100" y="2059676"/>
            <a:ext cx="9144000" cy="265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6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</a:t>
            </a:r>
            <a:r>
              <a:rPr lang="zh-TW" sz="2930"/>
              <a:t>Jenkins 介面介紹</a:t>
            </a:r>
            <a:endParaRPr sz="293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930"/>
              <a:t>（僅介紹會用到的功能）</a:t>
            </a:r>
            <a:endParaRPr sz="1700"/>
          </a:p>
        </p:txBody>
      </p:sp>
      <p:sp>
        <p:nvSpPr>
          <p:cNvPr id="296" name="Google Shape;296;p46"/>
          <p:cNvSpPr/>
          <p:nvPr/>
        </p:nvSpPr>
        <p:spPr>
          <a:xfrm>
            <a:off x="508159" y="1536859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 b="1">
                <a:latin typeface="Aptos"/>
                <a:ea typeface="Aptos"/>
                <a:cs typeface="Aptos"/>
                <a:sym typeface="Aptos"/>
              </a:rPr>
              <a:t>Credentials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latin typeface="Aptos"/>
                <a:ea typeface="Aptos"/>
                <a:cs typeface="Aptos"/>
                <a:sym typeface="Aptos"/>
              </a:rPr>
              <a:t>建立 GitHub 登入憑證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 b="1"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97" name="Google Shape;297;p46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411125" y="1753447"/>
            <a:ext cx="6517875" cy="285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7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</a:t>
            </a:r>
            <a:r>
              <a:rPr lang="zh-TW" sz="2930"/>
              <a:t>Jenkins 介面介紹</a:t>
            </a:r>
            <a:endParaRPr sz="293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930"/>
              <a:t>（僅介紹會用到的功能）</a:t>
            </a:r>
            <a:endParaRPr sz="1700"/>
          </a:p>
        </p:txBody>
      </p:sp>
      <p:sp>
        <p:nvSpPr>
          <p:cNvPr id="303" name="Google Shape;303;p47"/>
          <p:cNvSpPr/>
          <p:nvPr/>
        </p:nvSpPr>
        <p:spPr>
          <a:xfrm>
            <a:off x="508159" y="1536859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 b="1">
                <a:latin typeface="Aptos"/>
                <a:ea typeface="Aptos"/>
                <a:cs typeface="Aptos"/>
                <a:sym typeface="Aptos"/>
              </a:rPr>
              <a:t>Plugins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latin typeface="Aptos"/>
                <a:ea typeface="Aptos"/>
                <a:cs typeface="Aptos"/>
                <a:sym typeface="Aptos"/>
              </a:rPr>
              <a:t>管理外掛套件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304" name="Google Shape;304;p47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025950" y="2223702"/>
            <a:ext cx="6947476" cy="239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4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000">
                <a:latin typeface="Aptos"/>
                <a:ea typeface="Aptos"/>
                <a:cs typeface="Aptos"/>
                <a:sym typeface="Aptos"/>
              </a:rPr>
              <a:t>建立 Pipeline 流水線與腳本建置</a:t>
            </a:r>
            <a:endParaRPr sz="3000"/>
          </a:p>
        </p:txBody>
      </p:sp>
      <p:sp>
        <p:nvSpPr>
          <p:cNvPr id="310" name="Google Shape;310;p48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600" cy="29106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🧱 Jenkins Pipeline 是什麼？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一條自動執行「建置、測試、部署」的生產線。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🪜 建立步驟：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點擊「New Item」→ 選擇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Pipeline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80"/>
              </a:spcBef>
              <a:spcAft>
                <a:spcPts val="18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11" name="Google Shape;311;p48" title="Snipaste_2025-11-05_22-43-10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929075" y="1402609"/>
            <a:ext cx="4921201" cy="29488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9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Aptos"/>
                <a:ea typeface="Aptos"/>
                <a:cs typeface="Aptos"/>
                <a:sym typeface="Aptos"/>
              </a:rPr>
              <a:t>建立 Pipeline 流水線與腳本建置</a:t>
            </a:r>
            <a:endParaRPr sz="3000"/>
          </a:p>
        </p:txBody>
      </p:sp>
      <p:sp>
        <p:nvSpPr>
          <p:cNvPr id="317" name="Google Shape;317;p49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600" cy="29106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🧱 Jenkins Pipeline 是什麼？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🪜 建立步驟：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400"/>
              </a:spcBef>
              <a:spcAft>
                <a:spcPts val="0"/>
              </a:spcAft>
              <a:buNone/>
            </a:pP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18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2.滾動至底部，開始撰寫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Groovy 語法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18" name="Google Shape;318;p49" title="Snipaste_2025-11-05_23-06-41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462750" y="1620450"/>
            <a:ext cx="5281276" cy="2760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50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Aptos"/>
                <a:ea typeface="Aptos"/>
                <a:cs typeface="Aptos"/>
                <a:sym typeface="Aptos"/>
              </a:rPr>
              <a:t>Groovy 語法簡介</a:t>
            </a:r>
            <a:endParaRPr sz="3000"/>
          </a:p>
        </p:txBody>
      </p:sp>
      <p:sp>
        <p:nvSpPr>
          <p:cNvPr id="324" name="Google Shape;324;p50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 的 Pipeline 底層語法基於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Groovy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語言。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✳️ 常見用途：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加入條件判斷（if/else）與流程控制。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使用 Shared Library 重複利用程式碼。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自動化部屬控制邏輯。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0350" algn="l" rtl="0">
              <a:spcBef>
                <a:spcPts val="180"/>
              </a:spcBef>
              <a:spcAft>
                <a:spcPts val="0"/>
              </a:spcAft>
              <a:buSzPts val="1100"/>
              <a:buChar char="►"/>
            </a:pPr>
            <a:endParaRPr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51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30" name="Google Shape;330;p51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254000" lvl="0" indent="-244475" algn="just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55000"/>
              <a:buFont typeface="Arial" panose="020B0604020202020204"/>
              <a:buChar char="►"/>
            </a:pPr>
            <a:r>
              <a:rPr 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好 前面有說到cicd的步驟</a:t>
            </a:r>
            <a:endParaRPr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5000"/>
              <a:buFont typeface="Arial" panose="020B0604020202020204"/>
              <a:buChar char="►"/>
            </a:pPr>
            <a:r>
              <a:rPr 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1. 把上傳到git的檔案從gihubt抓下來到電腦</a:t>
            </a:r>
            <a:endParaRPr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5000"/>
              <a:buFont typeface="Arial" panose="020B0604020202020204"/>
              <a:buChar char="►"/>
            </a:pPr>
            <a:r>
              <a:rPr 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2. 傳到正式站網站的資料夾</a:t>
            </a:r>
            <a:endParaRPr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這邊我們先在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槽建立兩個資料夾</a:t>
            </a:r>
            <a:endParaRPr lang="zh-TW" altLang="en-US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endParaRPr lang="zh-TW" altLang="en-US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一個叫做</a:t>
            </a:r>
            <a:r>
              <a:rPr lang="en-US" altLang="zh-TW" sz="16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NativeDevelopment</a:t>
            </a:r>
            <a:endParaRPr lang="en-US" altLang="zh-TW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一個叫做</a:t>
            </a:r>
            <a:r>
              <a:rPr lang="en-US" altLang="zh-TW" sz="16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OfficialWebsite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因為通常一班情況 是一台電腦在做開發 一台電腦是正式站部屬的機器</a:t>
            </a:r>
            <a:endParaRPr lang="zh-TW" altLang="en-US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這邊我們模擬一下 假設兩台電腦都在同一台做操作 好 </a:t>
            </a:r>
            <a:endParaRPr lang="zh-TW" altLang="en-US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所以我們步驟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就是把</a:t>
            </a:r>
            <a:r>
              <a:rPr lang="en-US" altLang="zh-TW" sz="16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NativeDevelopment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裡面的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PYTHON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檔案 藉由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JENKINS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傳到</a:t>
            </a:r>
            <a:r>
              <a:rPr lang="en-US" altLang="zh-TW" sz="16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OfficialWebsite</a:t>
            </a:r>
            <a:endParaRPr lang="en-US" altLang="zh-TW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l" rtl="0">
              <a:spcBef>
                <a:spcPts val="0"/>
              </a:spcBef>
              <a:spcAft>
                <a:spcPts val="0"/>
              </a:spcAft>
              <a:buClr>
                <a:srgbClr val="0F4761"/>
              </a:buClr>
              <a:buSzPct val="79000"/>
              <a:buFont typeface="Arial" panose="020B0604020202020204"/>
              <a:buChar char="►"/>
            </a:pPr>
            <a:endParaRPr sz="1600" dirty="0">
              <a:solidFill>
                <a:srgbClr val="0F476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52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36" name="Google Shape;336;p52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要到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Credentials 建立github帳戶 方便pipeline使用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29845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nsolas" panose="020B0609020204030204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點擊圖片</a:t>
            </a: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-260350" algn="l" rtl="0">
              <a:spcBef>
                <a:spcPts val="400"/>
              </a:spcBef>
              <a:spcAft>
                <a:spcPts val="0"/>
              </a:spcAft>
              <a:buSzPts val="1100"/>
              <a:buChar char="►"/>
            </a:pPr>
            <a:endParaRPr b="1" dirty="0"/>
          </a:p>
        </p:txBody>
      </p:sp>
      <p:pic>
        <p:nvPicPr>
          <p:cNvPr id="337" name="Google Shape;337;p52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29969" y="2521242"/>
            <a:ext cx="6665376" cy="208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3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43" name="Google Shape;343;p53"/>
          <p:cNvSpPr txBox="1">
            <a:spLocks noGrp="1"/>
          </p:cNvSpPr>
          <p:nvPr>
            <p:ph type="body" idx="1"/>
          </p:nvPr>
        </p:nvSpPr>
        <p:spPr>
          <a:xfrm>
            <a:off x="508000" y="127450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要到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Credentials 建立github帳戶 方便pipeline使用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29845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nsolas" panose="020B0609020204030204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下一步</a:t>
            </a: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344" name="Google Shape;344;p5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47650" y="2901025"/>
            <a:ext cx="8440699" cy="1805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54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50" name="Google Shape;350;p54"/>
          <p:cNvSpPr txBox="1">
            <a:spLocks noGrp="1"/>
          </p:cNvSpPr>
          <p:nvPr>
            <p:ph type="body" idx="1"/>
          </p:nvPr>
        </p:nvSpPr>
        <p:spPr>
          <a:xfrm>
            <a:off x="508000" y="127450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要到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Credentials 建立github帳戶 方便pipeline使用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29845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nsolas" panose="020B0609020204030204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下一步</a:t>
            </a: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351" name="Google Shape;351;p5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47550" y="3189100"/>
            <a:ext cx="7940575" cy="150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55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57" name="Google Shape;357;p55"/>
          <p:cNvSpPr txBox="1">
            <a:spLocks noGrp="1"/>
          </p:cNvSpPr>
          <p:nvPr>
            <p:ph type="body" idx="1"/>
          </p:nvPr>
        </p:nvSpPr>
        <p:spPr>
          <a:xfrm>
            <a:off x="508000" y="127450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200"/>
              <a:buChar char="●"/>
            </a:pP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到這邊輸入你的github帳號與密碼，授予pipeline權限使用下載檔案</a:t>
            </a: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b="1" dirty="0"/>
          </a:p>
        </p:txBody>
      </p:sp>
      <p:pic>
        <p:nvPicPr>
          <p:cNvPr id="358" name="Google Shape;358;p55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737726" y="2073386"/>
            <a:ext cx="6547274" cy="2989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56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64" name="Google Shape;364;p56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將任意 Python 檔案放入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NativeDevelopment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資料夾。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點選 Jenkins 的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Build Now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若出現錯誤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Unknown step fileOperations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→ 安裝外掛。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再次執行 Build → 確認綠燈完成。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檢查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OfficialWebsite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資料夾中是否出現新檔案。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修改 Python 檔後再次 Build → 驗證自動更新。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2000">
              <a:solidFill>
                <a:schemeClr val="dk1"/>
              </a:solidFill>
              <a:latin typeface="PMingLiU" panose="02020500000000000000" charset="-120"/>
              <a:ea typeface="PMingLiU" panose="02020500000000000000" charset="-120"/>
              <a:cs typeface="PMingLiU" panose="02020500000000000000" charset="-120"/>
              <a:sym typeface="PMingLiU" panose="02020500000000000000" charset="-120"/>
            </a:endParaRPr>
          </a:p>
        </p:txBody>
      </p:sp>
      <p:pic>
        <p:nvPicPr>
          <p:cNvPr id="365" name="Google Shape;365;p56" title="Snipaste_2025-11-05_23-39-04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70570" y="2499725"/>
            <a:ext cx="6704701" cy="264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57"/>
          <p:cNvSpPr txBox="1">
            <a:spLocks noGrp="1"/>
          </p:cNvSpPr>
          <p:nvPr>
            <p:ph type="title"/>
          </p:nvPr>
        </p:nvSpPr>
        <p:spPr>
          <a:xfrm>
            <a:off x="508000" y="110128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 dirty="0"/>
          </a:p>
        </p:txBody>
      </p:sp>
      <p:sp>
        <p:nvSpPr>
          <p:cNvPr id="371" name="Google Shape;371;p57"/>
          <p:cNvSpPr txBox="1">
            <a:spLocks noGrp="1"/>
          </p:cNvSpPr>
          <p:nvPr>
            <p:ph type="body" idx="1"/>
          </p:nvPr>
        </p:nvSpPr>
        <p:spPr>
          <a:xfrm>
            <a:off x="507999" y="832359"/>
            <a:ext cx="7634833" cy="4800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實例：基本 </a:t>
            </a:r>
            <a:r>
              <a:rPr lang="en-US" altLang="zh-TW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Pipeline </a:t>
            </a:r>
            <a:r>
              <a:rPr lang="zh-TW" altLang="en-US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語法</a:t>
            </a:r>
            <a:endParaRPr lang="zh-TW" altLang="en-US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pipeline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agent any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stages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stage('start')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steps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echo "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開始部屬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"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stage('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抓取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')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steps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branch: 'main',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credentialsId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: '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githubuser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',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url: 'https://github.com/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coolyuoo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/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ClassHello.git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stage('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複製到正式站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')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steps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//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先確保目的地存在（可選）</a:t>
            </a:r>
            <a:endParaRPr lang="zh-TW" altLang="en-US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bat '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mkdir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D:\\site 2&gt;NUL ||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ver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&gt;NUL'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fileOperations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([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folderCopyOperation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(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sourceFolderPath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: '.',          //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以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workspace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為相對路徑</a:t>
            </a:r>
            <a:endParaRPr lang="zh-TW" altLang="en-US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destinationFolderPath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: 'D:/</a:t>
            </a:r>
            <a:r>
              <a:rPr lang="en-US" altLang="zh-TW" sz="9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OfficialWebsite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'// Windows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用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/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最穩</a:t>
            </a:r>
            <a:endParaRPr lang="zh-TW" altLang="en-US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)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])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post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success { echo '✅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專案已成功複製到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D:\\site'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failure { echo '❌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發生錯誤，請檢查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Jenkins Log'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163830" lvl="0" indent="0">
              <a:buClr>
                <a:schemeClr val="dk1"/>
              </a:buClr>
              <a:buSzPct val="86000"/>
              <a:buNone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5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77" name="Google Shape;377;p58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指令說明：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pipeline {}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：宣告式 Pipeline 主體。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agent any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：可在任意節點執行。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stages {}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：定義整個流程的階段。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stage('名稱') { steps { ... } }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：一個階段與步驟。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bat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：Windows 系統執行命令。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fileOperations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：外掛功能，用於複製或搬移檔案。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💡 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注意：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若執行時出現 </a:t>
            </a: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Unknown step fileOperations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，需安裝 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File Operations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29845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nsolas" panose="020B0609020204030204"/>
              <a:buChar char="●"/>
            </a:pP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-260350" algn="l" rtl="0">
              <a:spcBef>
                <a:spcPts val="400"/>
              </a:spcBef>
              <a:spcAft>
                <a:spcPts val="0"/>
              </a:spcAft>
              <a:buSzPts val="1100"/>
              <a:buChar char="►"/>
            </a:pPr>
            <a:endParaRPr b="1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5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77" name="Google Shape;377;p58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lvl="0" indent="-304800"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</a:t>
            </a:r>
            <a:r>
              <a:rPr lang="en-US" altLang="zh-TW" sz="1100" dirty="0"/>
              <a:t>Pipeline Stage View </a:t>
            </a:r>
            <a:r>
              <a:rPr lang="zh-TW" altLang="en-US" sz="1100" dirty="0" smtClean="0"/>
              <a:t>下載這個 </a:t>
            </a:r>
            <a:r>
              <a:rPr lang="en-US" altLang="zh-TW" sz="1100" dirty="0"/>
              <a:t>Plugin</a:t>
            </a:r>
            <a:r>
              <a:rPr lang="zh-TW" altLang="en-US" sz="1100" dirty="0"/>
              <a:t> </a:t>
            </a:r>
            <a:endParaRPr lang="en-US" altLang="zh-TW" sz="1100" dirty="0" smtClean="0"/>
          </a:p>
          <a:p>
            <a:pPr lvl="0" indent="-304800">
              <a:buClr>
                <a:schemeClr val="dk1"/>
              </a:buClr>
              <a:buSzPts val="1200"/>
              <a:buChar char="●"/>
            </a:pPr>
            <a:r>
              <a:rPr lang="zh-TW" altLang="en-US" sz="11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安裝完畢後，你的部屬流程就會出現視圖顯示</a:t>
            </a: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-260350" algn="l" rtl="0">
              <a:spcBef>
                <a:spcPts val="400"/>
              </a:spcBef>
              <a:spcAft>
                <a:spcPts val="0"/>
              </a:spcAft>
              <a:buSzPts val="1100"/>
              <a:buChar char="►"/>
            </a:pPr>
            <a:endParaRPr b="1" dirty="0"/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91" y="2169196"/>
            <a:ext cx="4741719" cy="245399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休息一下</a:t>
            </a:r>
            <a:r>
              <a:rPr lang="en-US" altLang="zh-TW" dirty="0" smtClean="0"/>
              <a:t>	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 smtClean="0"/>
              <a:t>學員提問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59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流程：容器化部屬</a:t>
            </a:r>
            <a:br>
              <a:rPr lang="zh-TW"/>
            </a:br>
            <a:endParaRPr lang="zh-TW"/>
          </a:p>
        </p:txBody>
      </p:sp>
      <p:sp>
        <p:nvSpPr>
          <p:cNvPr id="383" name="Google Shape;383;p59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🐳 容器化專案流程：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從 Git 抓取程式碼。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build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建立映像。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stop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停止舊容器。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rm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刪除舊容器。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run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啟動新容器。</a:t>
            </a: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190500" algn="l" rtl="0">
              <a:spcBef>
                <a:spcPts val="800"/>
              </a:spcBef>
              <a:spcAft>
                <a:spcPts val="0"/>
              </a:spcAft>
              <a:buSzPts val="1100"/>
              <a:buNone/>
            </a:pP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60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流程：容器化部屬</a:t>
            </a:r>
            <a:br>
              <a:rPr lang="zh-TW"/>
            </a:br>
            <a:endParaRPr lang="zh-TW"/>
          </a:p>
        </p:txBody>
      </p:sp>
      <p:sp>
        <p:nvSpPr>
          <p:cNvPr id="389" name="Google Shape;389;p60"/>
          <p:cNvSpPr txBox="1">
            <a:spLocks noGrp="1"/>
          </p:cNvSpPr>
          <p:nvPr>
            <p:ph type="body" idx="1"/>
          </p:nvPr>
        </p:nvSpPr>
        <p:spPr>
          <a:xfrm>
            <a:off x="379250" y="59877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25000" lnSpcReduction="20000"/>
          </a:bodyPr>
          <a:lstStyle/>
          <a:p>
            <a:pPr marL="17526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86000"/>
              <a:buNone/>
            </a:pPr>
            <a:r>
              <a:rPr lang="zh-TW" sz="44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Jenkinsfile 範例</a:t>
            </a:r>
            <a:endParaRPr sz="44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pipeline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agent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any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stages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stage('start')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 echo 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開始部屬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抓取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git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git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branch: 'main',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   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credentialsId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: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githubuser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',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    url: 'https://github.com/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coolyuoo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/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ClassHello.git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stage('2.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建立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image')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bat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build -t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hello:latest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.'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stage('3.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停止舊容器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//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若不存在不要讓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pipeline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失敗</a:t>
            </a:r>
            <a:endParaRPr lang="zh-TW" altLang="en-US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bat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stop hello-c'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stage('4.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刪除舊容器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bat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rm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hello-c'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stage('5.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啟動新容器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//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名稱與映像一致；依你的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app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調整對外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/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內部埠</a:t>
            </a:r>
            <a:endParaRPr lang="zh-TW" altLang="en-US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bat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run -d -p 8095:8000 --name hello-c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hello:latest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post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success { echo 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✅ 部署完成，容器已啟動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http://localhost: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8095'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failure { echo 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❌ 部署失敗，請檢查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Jenkins Console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輸出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61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流程：容器化部屬</a:t>
            </a:r>
            <a:br>
              <a:rPr lang="zh-TW"/>
            </a:br>
            <a:endParaRPr lang="zh-TW"/>
          </a:p>
        </p:txBody>
      </p:sp>
      <p:sp>
        <p:nvSpPr>
          <p:cNvPr id="395" name="Google Shape;395;p61"/>
          <p:cNvSpPr txBox="1">
            <a:spLocks noGrp="1"/>
          </p:cNvSpPr>
          <p:nvPr>
            <p:ph type="body" idx="1"/>
          </p:nvPr>
        </p:nvSpPr>
        <p:spPr>
          <a:xfrm>
            <a:off x="451400" y="1792800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✅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實作結果：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執行 Build Now，Jenkins 會自動： - 拉取程式碼 - 建立 Docker 映像 - 停止／刪除舊容器 - 啟動新容器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900"/>
              </a:spcBef>
              <a:spcAft>
                <a:spcPts val="90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💡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到此為止，你已完成從傳統部署 → Docker 容器化的自動化流程！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實務練習</a:t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792800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just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zh-TW" sz="2000">
                <a:solidFill>
                  <a:schemeClr val="dk1"/>
                </a:solidFill>
                <a:latin typeface="PMingLiU" panose="02020500000000000000" charset="-120"/>
                <a:ea typeface="PMingLiU" panose="02020500000000000000" charset="-120"/>
                <a:cs typeface="PMingLiU" panose="02020500000000000000" charset="-120"/>
                <a:sym typeface="PMingLiU" panose="02020500000000000000" charset="-120"/>
              </a:rPr>
              <a:t>準備兩台電腦，實務練習正式容器化部屬流程</a:t>
            </a:r>
            <a:endParaRPr sz="2000">
              <a:solidFill>
                <a:schemeClr val="dk1"/>
              </a:solidFill>
              <a:latin typeface="PMingLiU" panose="02020500000000000000" charset="-120"/>
              <a:ea typeface="PMingLiU" panose="02020500000000000000" charset="-120"/>
              <a:cs typeface="PMingLiU" panose="02020500000000000000" charset="-120"/>
              <a:sym typeface="PMingLiU" panose="02020500000000000000" charset="-120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altLang="en-US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參考資料</a:t>
            </a:r>
            <a:r>
              <a:rPr lang="en-US" altLang="zh-TW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br>
              <a:rPr lang="zh-TW" dirty="0"/>
            </a:br>
            <a:endParaRPr lang="zh-TW" dirty="0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792800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en-US" altLang="zh-TW" sz="2000" dirty="0">
                <a:solidFill>
                  <a:schemeClr val="dk1"/>
                </a:solidFill>
                <a:latin typeface="PMingLiU" panose="02020500000000000000" charset="-120"/>
                <a:ea typeface="PMingLiU" panose="02020500000000000000" charset="-120"/>
                <a:cs typeface="PMingLiU" panose="02020500000000000000" charset="-120"/>
                <a:sym typeface="PMingLiU" panose="02020500000000000000" charset="-120"/>
                <a:hlinkClick r:id="rId1"/>
              </a:rPr>
              <a:t>https://</a:t>
            </a:r>
            <a:r>
              <a:rPr lang="en-US" altLang="zh-TW" sz="2000" dirty="0" smtClean="0">
                <a:solidFill>
                  <a:schemeClr val="dk1"/>
                </a:solidFill>
                <a:latin typeface="PMingLiU" panose="02020500000000000000" charset="-120"/>
                <a:ea typeface="PMingLiU" panose="02020500000000000000" charset="-120"/>
                <a:cs typeface="PMingLiU" panose="02020500000000000000" charset="-120"/>
                <a:sym typeface="PMingLiU" panose="02020500000000000000" charset="-120"/>
                <a:hlinkClick r:id="rId1"/>
              </a:rPr>
              <a:t>www.youtube.com/channel/UCjguLQ886u9X-gSucGgmVFw</a:t>
            </a:r>
            <a:endParaRPr lang="en-US" altLang="zh-TW" sz="2000" dirty="0" smtClean="0">
              <a:solidFill>
                <a:schemeClr val="dk1"/>
              </a:solidFill>
              <a:latin typeface="PMingLiU" panose="02020500000000000000" charset="-120"/>
              <a:ea typeface="PMingLiU" panose="02020500000000000000" charset="-120"/>
              <a:cs typeface="PMingLiU" panose="02020500000000000000" charset="-120"/>
              <a:sym typeface="PMingLiU" panose="02020500000000000000" charset="-120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endParaRPr lang="en-US" sz="2000" dirty="0">
              <a:solidFill>
                <a:schemeClr val="dk1"/>
              </a:solidFill>
              <a:latin typeface="PMingLiU" panose="02020500000000000000" charset="-120"/>
              <a:ea typeface="PMingLiU" panose="02020500000000000000" charset="-120"/>
              <a:cs typeface="Aptos"/>
              <a:sym typeface="PMingLiU" panose="02020500000000000000" charset="-120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zh-TW" altLang="en-US" b="1"/>
              <a:t>上班了啊哈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1.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打勾</a:t>
            </a: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This project is parameterized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         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選擇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String Parameter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endParaRPr lang="en-US" alt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93185" y="1712595"/>
            <a:ext cx="2979420" cy="30403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2.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填入資料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Name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可以隨意打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endParaRPr lang="en-US" alt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7840" y="1946275"/>
            <a:ext cx="6539865" cy="28232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br>
              <a:rPr lang="zh-TW" dirty="0"/>
            </a:br>
            <a:endParaRPr lang="zh-TW" dirty="0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3. pipeline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插入以下這串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parameters {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      string(name: 'VERSION', defaultValue: '', description: 'Git </a:t>
            </a:r>
            <a:r>
              <a:rPr lang="zh-HK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版本（</a:t>
            </a: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commit id</a:t>
            </a:r>
            <a:r>
              <a:rPr lang="zh-HK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）不輸入則抓取</a:t>
            </a: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	develop</a:t>
            </a:r>
            <a:r>
              <a:rPr lang="zh-HK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最新版本</a:t>
            </a: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')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要與上面設定的一樣，不然設定會跑掉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endParaRPr lang="en-US" alt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4.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回到上一頁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955165"/>
            <a:ext cx="4462780" cy="18135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5.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查找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 revision</a:t>
            </a:r>
            <a:endParaRPr lang="en-US" alt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22980" y="1388745"/>
            <a:ext cx="4998720" cy="35737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  <a:endParaRPr lang="zh-TW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5. </a:t>
            </a: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貼到</a:t>
            </a:r>
            <a:r>
              <a:rPr lang="en-US" alt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build </a:t>
            </a: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空格，</a:t>
            </a:r>
            <a:endParaRPr lang="zh-TW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即可指定版本退版</a:t>
            </a:r>
            <a:endParaRPr lang="zh-TW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14370" y="1501775"/>
            <a:ext cx="3741420" cy="2987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en-US" altLang="zh-TW" sz="3000" dirty="0" err="1" smtClean="0">
                <a:latin typeface="+mj-ea"/>
                <a:ea typeface="+mj-ea"/>
                <a:cs typeface="Play" panose="00000500000000000000"/>
                <a:sym typeface="Play" panose="00000500000000000000"/>
              </a:rPr>
              <a:t>pollSCM</a:t>
            </a:r>
            <a:br>
              <a:rPr lang="zh-TW" dirty="0"/>
            </a:br>
            <a:endParaRPr lang="zh-TW" dirty="0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TW" sz="1200" dirty="0" err="1" smtClean="0">
                <a:latin typeface="Aptos"/>
                <a:cs typeface="Play" panose="00000500000000000000"/>
                <a:sym typeface="Play" panose="00000500000000000000"/>
              </a:rPr>
              <a:t>pollSCM</a:t>
            </a:r>
            <a:r>
              <a:rPr lang="zh-TW" altLang="en-US" sz="1200" dirty="0" smtClean="0">
                <a:latin typeface="Aptos"/>
                <a:cs typeface="Play" panose="00000500000000000000"/>
                <a:sym typeface="Play" panose="00000500000000000000"/>
              </a:rPr>
              <a:t>是排成部屬方式，優於一般手動部屬省去了進入頁面的時間</a:t>
            </a:r>
            <a:endParaRPr lang="en-US" altLang="zh-TW" sz="1200" dirty="0" smtClean="0">
              <a:latin typeface="Aptos"/>
              <a:cs typeface="Play" panose="00000500000000000000"/>
              <a:sym typeface="Play" panose="00000500000000000000"/>
            </a:endParaRPr>
          </a:p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 smtClean="0">
                <a:solidFill>
                  <a:schemeClr val="dk1"/>
                </a:solidFill>
                <a:latin typeface="Aptos"/>
                <a:ea typeface="Aptos"/>
                <a:cs typeface="Aptos"/>
                <a:sym typeface="Play" panose="00000500000000000000"/>
              </a:rPr>
              <a:t>進入</a:t>
            </a:r>
            <a:r>
              <a:rPr lang="en-US" altLang="zh-TW" dirty="0" smtClean="0"/>
              <a:t>Configuration</a:t>
            </a:r>
            <a:r>
              <a:rPr lang="zh-TW" altLang="en-US" dirty="0" smtClean="0"/>
              <a:t> 找到</a:t>
            </a:r>
            <a:r>
              <a:rPr lang="en-US" altLang="zh-TW" dirty="0" smtClean="0"/>
              <a:t>Triggers</a:t>
            </a:r>
            <a:br>
              <a:rPr lang="en-US" altLang="zh-TW" dirty="0" smtClean="0"/>
            </a:br>
            <a:r>
              <a:rPr lang="en-US" altLang="zh-TW" dirty="0" smtClean="0"/>
              <a:t>Poll SCM</a:t>
            </a:r>
            <a:r>
              <a:rPr lang="zh-TW" altLang="en-US" dirty="0" smtClean="0"/>
              <a:t>打勾後輸入</a:t>
            </a:r>
            <a:endParaRPr lang="en-US" altLang="zh-TW" dirty="0" smtClean="0"/>
          </a:p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dirty="0" smtClean="0"/>
              <a:t>*</a:t>
            </a:r>
            <a:r>
              <a:rPr lang="en-US" altLang="zh-TW" dirty="0" smtClean="0"/>
              <a:t>/2</a:t>
            </a:r>
            <a:r>
              <a:rPr lang="zh-TW" altLang="en-US" dirty="0" smtClean="0"/>
              <a:t> * * * * </a:t>
            </a:r>
            <a:endParaRPr lang="en-US" altLang="zh-TW" dirty="0" smtClean="0"/>
          </a:p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dirty="0" smtClean="0"/>
              <a:t>即可</a:t>
            </a:r>
            <a:br>
              <a:rPr lang="en-US" altLang="zh-TW" dirty="0" smtClean="0"/>
            </a:br>
            <a:endParaRPr lang="zh-TW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64508" y="1824905"/>
            <a:ext cx="4922050" cy="313810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en-US" altLang="zh-TW" sz="3000" dirty="0" err="1" smtClean="0">
                <a:latin typeface="+mj-ea"/>
                <a:ea typeface="+mj-ea"/>
                <a:cs typeface="Play" panose="00000500000000000000"/>
                <a:sym typeface="Play" panose="00000500000000000000"/>
              </a:rPr>
              <a:t>pollSCM</a:t>
            </a:r>
            <a:br>
              <a:rPr lang="zh-TW" dirty="0"/>
            </a:br>
            <a:endParaRPr lang="zh-TW" dirty="0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 smtClean="0">
                <a:latin typeface="Aptos"/>
                <a:cs typeface="Play" panose="00000500000000000000"/>
                <a:sym typeface="Play" panose="00000500000000000000"/>
              </a:rPr>
              <a:t>觀察</a:t>
            </a:r>
            <a:r>
              <a:rPr lang="en-US" altLang="zh-TW" sz="1200" dirty="0" smtClean="0">
                <a:latin typeface="Aptos"/>
                <a:cs typeface="Play" panose="00000500000000000000"/>
                <a:sym typeface="Play" panose="00000500000000000000"/>
              </a:rPr>
              <a:t>Stage View</a:t>
            </a:r>
            <a:endParaRPr lang="en-US" altLang="zh-TW" sz="1200" dirty="0" smtClean="0">
              <a:latin typeface="Aptos"/>
              <a:cs typeface="Play" panose="00000500000000000000"/>
              <a:sym typeface="Play" panose="00000500000000000000"/>
            </a:endParaRPr>
          </a:p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>
                <a:latin typeface="Aptos"/>
                <a:sym typeface="Play" panose="00000500000000000000"/>
              </a:rPr>
              <a:t>每兩分鐘會部屬一次</a:t>
            </a:r>
            <a:br>
              <a:rPr lang="en-US" altLang="zh-TW" dirty="0" smtClean="0"/>
            </a:br>
            <a:endParaRPr lang="zh-TW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36876" y="2083388"/>
            <a:ext cx="5284578" cy="287348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多面向">
  <a:themeElements>
    <a:clrScheme name="多面向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5617</Words>
  <Application>WPS Presentation</Application>
  <PresentationFormat>如螢幕大小 (16:9)</PresentationFormat>
  <Paragraphs>452</Paragraphs>
  <Slides>43</Slides>
  <Notes>42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43</vt:i4>
      </vt:variant>
    </vt:vector>
  </HeadingPairs>
  <TitlesOfParts>
    <vt:vector size="60" baseType="lpstr">
      <vt:lpstr>Arial</vt:lpstr>
      <vt:lpstr>SimSun</vt:lpstr>
      <vt:lpstr>Wingdings</vt:lpstr>
      <vt:lpstr>Arial</vt:lpstr>
      <vt:lpstr>Trebuchet MS</vt:lpstr>
      <vt:lpstr>Noto Sans Symbols</vt:lpstr>
      <vt:lpstr>Segoe Print</vt:lpstr>
      <vt:lpstr>Trebuchet MS</vt:lpstr>
      <vt:lpstr>Play</vt:lpstr>
      <vt:lpstr>Arial Rounded MT Bold</vt:lpstr>
      <vt:lpstr>Aptos</vt:lpstr>
      <vt:lpstr>Segoe UI</vt:lpstr>
      <vt:lpstr>Consolas</vt:lpstr>
      <vt:lpstr>Microsoft YaHei</vt:lpstr>
      <vt:lpstr>Arial Unicode MS</vt:lpstr>
      <vt:lpstr>PMingLiU</vt:lpstr>
      <vt:lpstr>多面向</vt:lpstr>
      <vt:lpstr>單元5.jenkins與docker的cicd使用</vt:lpstr>
      <vt:lpstr>目錄:</vt:lpstr>
      <vt:lpstr>課程導入</vt:lpstr>
      <vt:lpstr> CICD是什麼</vt:lpstr>
      <vt:lpstr>Jenkins是什麼</vt:lpstr>
      <vt:lpstr>Jenkins安裝步驟</vt:lpstr>
      <vt:lpstr>Jenkins安裝步驟</vt:lpstr>
      <vt:lpstr>Jenkins安裝步驟</vt:lpstr>
      <vt:lpstr>Jenkins安裝步驟</vt:lpstr>
      <vt:lpstr>Jenkins安裝步驟</vt:lpstr>
      <vt:lpstr>Jenkins安裝步驟</vt:lpstr>
      <vt:lpstr> Jenkins登入步驟</vt:lpstr>
      <vt:lpstr> Jenkins登入步驟</vt:lpstr>
      <vt:lpstr>（僅介紹會用到的功能）</vt:lpstr>
      <vt:lpstr>（僅介紹會用到的功能）</vt:lpstr>
      <vt:lpstr>（僅介紹會用到的功能）</vt:lpstr>
      <vt:lpstr>（僅介紹會用到的功能）</vt:lpstr>
      <vt:lpstr>建立 Pipeline 流水線與腳本建置</vt:lpstr>
      <vt:lpstr>建立 Pipeline 流水線與腳本建置</vt:lpstr>
      <vt:lpstr>Groovy 語法簡介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休息一下	</vt:lpstr>
      <vt:lpstr>執行 CICD 流程：容器化部屬 </vt:lpstr>
      <vt:lpstr>執行 CICD 流程：容器化部屬 </vt:lpstr>
      <vt:lpstr>執行 CICD 流程：容器化部屬 </vt:lpstr>
      <vt:lpstr>實務練習 </vt:lpstr>
      <vt:lpstr>參考資料: </vt:lpstr>
      <vt:lpstr>課程補充:退版 </vt:lpstr>
      <vt:lpstr>課程補充:退版 </vt:lpstr>
      <vt:lpstr>課程補充:退版 </vt:lpstr>
      <vt:lpstr>課程補充:退版 </vt:lpstr>
      <vt:lpstr>課程補充:退版 </vt:lpstr>
      <vt:lpstr>課程補充:退版 </vt:lpstr>
      <vt:lpstr>課程補充:pollSCM </vt:lpstr>
      <vt:lpstr>課程補充:pollSCM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單元5.jenkins與docker的cicd使用</dc:title>
  <dc:creator/>
  <cp:lastModifiedBy>vsn80</cp:lastModifiedBy>
  <cp:revision>25</cp:revision>
  <dcterms:created xsi:type="dcterms:W3CDTF">2025-11-12T06:44:00Z</dcterms:created>
  <dcterms:modified xsi:type="dcterms:W3CDTF">2026-02-03T14:35:18Z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F5FBC79B6AF541E7A751DF31E3A8E5E5_12</vt:lpwstr>
  </property>
  <property fmtid="{D5CDD505-2E9C-101B-9397-08002B2CF9AE}" pid="3" name="KSOProductBuildVer">
    <vt:lpwstr>3076-12.9.0.21549</vt:lpwstr>
  </property>
</Properties>
</file>